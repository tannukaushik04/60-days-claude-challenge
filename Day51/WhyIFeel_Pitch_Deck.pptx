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E2E"/>
                </a:solidFill>
                <a:latin typeface="Arial"/>
              </a:defRPr>
            </a:pPr>
            <a:r>
              <a:rPr sz="1400" b="0" i="0" u="none" strike="noStrike">
                <a:solidFill>
                  <a:srgbClr val="1A2E2E"/>
                </a:solidFill>
                <a:latin typeface="Arial"/>
              </a:rPr>
              <a:t>Average Energy by Habit Condition</a:t>
            </a:r>
          </a:p>
        </c:rich>
      </c:tx>
      <c:layout/>
      <c:overlay val="0"/>
    </c:title>
    <c:autoTitleDeleted val="0"/>
    <c:plotArea>
      <c:layout/>
      <c:barChart>
        <c:barDir val="col"/>
        <c:grouping val="clustered"/>
        <c:varyColors val="0"/>
        <c:ser>
          <c:idx val="0"/>
          <c:order val="0"/>
          <c:tx>
            <c:strRef>
              <c:f>Sheet1!$B$1</c:f>
              <c:strCache>
                <c:ptCount val="1"/>
                <c:pt idx="0">
                  <c:v>Avg. Energy (1-5)</c:v>
                </c:pt>
              </c:strCache>
            </c:strRef>
          </c:tx>
          <c:spPr>
            <a:solidFill>
              <a:srgbClr val="028090"/>
            </a:solidFill>
            <a:effectLst/>
          </c:spPr>
          <c:invertIfNegative val="0"/>
          <c:dLbls>
            <c:numFmt formatCode="#,##0" sourceLinked="0"/>
            <c:txPr>
              <a:bodyPr/>
              <a:lstStyle/>
              <a:p>
                <a:pPr>
                  <a:defRPr b="0" i="0" strike="noStrike" sz="1100" u="none">
                    <a:solidFill>
                      <a:srgbClr val="1A2E2E"/>
                    </a:solidFill>
                    <a:latin typeface="Arial"/>
                  </a:defRPr>
                </a:pPr>
              </a:p>
            </c:txPr>
            <c:showLegendKey val="0"/>
            <c:showVal val="1"/>
            <c:showCatName val="0"/>
            <c:showSerName val="0"/>
            <c:showPercent val="0"/>
            <c:showBubbleSize val="0"/>
            <c:showLeaderLines val="0"/>
          </c:dLbls>
          <c:cat>
            <c:multiLvlStrRef>
              <c:f>Sheet1!$A$2:$A$5</c:f>
              <c:multiLvlStrCache>
                <c:ptCount val="4"/>
                <c:lvl>
                  <c:pt idx="0">
                    <c:v>Workout day</c:v>
                  </c:pt>
                  <c:pt idx="1">
                    <c:v>Non-workout day</c:v>
                  </c:pt>
                  <c:pt idx="2">
                    <c:v>7+ hrs sleep</c:v>
                  </c:pt>
                  <c:pt idx="3">
                    <c:v>&lt;7 hrs sleep</c:v>
                  </c:pt>
                </c:lvl>
              </c:multiLvlStrCache>
            </c:multiLvlStrRef>
          </c:cat>
          <c:val>
            <c:numRef>
              <c:f>Sheet1!$B$2:$B$5</c:f>
              <c:numCache>
                <c:formatCode>General</c:formatCode>
                <c:ptCount val="4"/>
                <c:pt idx="0">
                  <c:v>4.2</c:v>
                </c:pt>
                <c:pt idx="1">
                  <c:v>3</c:v>
                </c:pt>
                <c:pt idx="2">
                  <c:v>4.4</c:v>
                </c:pt>
                <c:pt idx="3">
                  <c:v>3.1</c:v>
                </c:pt>
              </c:numCache>
            </c:numRef>
          </c:val>
        </c:ser>
        <c:dLbls>
          <c:numFmt formatCode="#,##0" sourceLinked="0"/>
          <c:txPr>
            <a:bodyPr/>
            <a:lstStyle/>
            <a:p>
              <a:pPr>
                <a:defRPr b="0" i="0" strike="noStrike" sz="1100" u="none">
                  <a:solidFill>
                    <a:srgbClr val="1A2E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E6E"/>
                </a:solidFill>
                <a:latin typeface="Arial"/>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0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A6E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F"/>
        </a:solidFill>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028090">
              <a:alpha val="45000"/>
            </a:srgbClr>
          </a:solidFill>
          <a:ln/>
        </p:spPr>
      </p:sp>
      <p:sp>
        <p:nvSpPr>
          <p:cNvPr id="3" name="Shape 1"/>
          <p:cNvSpPr/>
          <p:nvPr/>
        </p:nvSpPr>
        <p:spPr>
          <a:xfrm>
            <a:off x="10241280" y="3291840"/>
            <a:ext cx="3657600" cy="3657600"/>
          </a:xfrm>
          <a:prstGeom prst="ellipse">
            <a:avLst/>
          </a:prstGeom>
          <a:solidFill>
            <a:srgbClr val="02C39A">
              <a:alpha val="35000"/>
            </a:srgbClr>
          </a:solidFill>
          <a:ln/>
        </p:spPr>
      </p:sp>
      <p:sp>
        <p:nvSpPr>
          <p:cNvPr id="4" name="Text 2"/>
          <p:cNvSpPr/>
          <p:nvPr/>
        </p:nvSpPr>
        <p:spPr>
          <a:xfrm>
            <a:off x="731520" y="2286000"/>
            <a:ext cx="82296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WhyIFeel</a:t>
            </a:r>
            <a:endParaRPr lang="en-US" sz="6000" dirty="0"/>
          </a:p>
        </p:txBody>
      </p:sp>
      <p:sp>
        <p:nvSpPr>
          <p:cNvPr id="5" name="Text 3"/>
          <p:cNvSpPr/>
          <p:nvPr/>
        </p:nvSpPr>
        <p:spPr>
          <a:xfrm>
            <a:off x="777240" y="3429000"/>
            <a:ext cx="7772400" cy="548640"/>
          </a:xfrm>
          <a:prstGeom prst="rect">
            <a:avLst/>
          </a:prstGeom>
          <a:noFill/>
          <a:ln/>
        </p:spPr>
        <p:txBody>
          <a:bodyPr wrap="square" rtlCol="0" anchor="ctr"/>
          <a:lstStyle/>
          <a:p>
            <a:pPr indent="0" marL="0">
              <a:buNone/>
            </a:pPr>
            <a:r>
              <a:rPr lang="en-US" sz="2200" dirty="0">
                <a:solidFill>
                  <a:srgbClr val="CFE9E7"/>
                </a:solidFill>
                <a:latin typeface="Calibri" pitchFamily="34" charset="0"/>
                <a:ea typeface="Calibri" pitchFamily="34" charset="-122"/>
                <a:cs typeface="Calibri" pitchFamily="34" charset="-120"/>
              </a:rPr>
              <a:t>Understand what actually makes you feel better.</a:t>
            </a:r>
            <a:endParaRPr lang="en-US" sz="2200" dirty="0"/>
          </a:p>
        </p:txBody>
      </p:sp>
      <p:sp>
        <p:nvSpPr>
          <p:cNvPr id="6" name="Text 4"/>
          <p:cNvSpPr/>
          <p:nvPr/>
        </p:nvSpPr>
        <p:spPr>
          <a:xfrm>
            <a:off x="777240" y="3977640"/>
            <a:ext cx="7315200" cy="457200"/>
          </a:xfrm>
          <a:prstGeom prst="rect">
            <a:avLst/>
          </a:prstGeom>
          <a:noFill/>
          <a:ln/>
        </p:spPr>
        <p:txBody>
          <a:bodyPr wrap="square" rtlCol="0" anchor="ctr"/>
          <a:lstStyle/>
          <a:p>
            <a:pPr indent="0" marL="0">
              <a:buNone/>
            </a:pPr>
            <a:r>
              <a:rPr lang="en-US" sz="1500" i="1" dirty="0">
                <a:solidFill>
                  <a:srgbClr val="9FC9C6"/>
                </a:solidFill>
                <a:latin typeface="Calibri" pitchFamily="34" charset="0"/>
                <a:ea typeface="Calibri" pitchFamily="34" charset="-122"/>
                <a:cs typeface="Calibri" pitchFamily="34" charset="-120"/>
              </a:rPr>
              <a:t>A self-built insight engine that connects your daily habits to how you really feel.</a:t>
            </a:r>
            <a:endParaRPr lang="en-US" sz="1500" dirty="0"/>
          </a:p>
        </p:txBody>
      </p:sp>
      <p:sp>
        <p:nvSpPr>
          <p:cNvPr id="7" name="Text 5"/>
          <p:cNvSpPr/>
          <p:nvPr/>
        </p:nvSpPr>
        <p:spPr>
          <a:xfrm>
            <a:off x="777240" y="6126480"/>
            <a:ext cx="7315200" cy="365760"/>
          </a:xfrm>
          <a:prstGeom prst="rect">
            <a:avLst/>
          </a:prstGeom>
          <a:noFill/>
          <a:ln/>
        </p:spPr>
        <p:txBody>
          <a:bodyPr wrap="square" rtlCol="0" anchor="ctr"/>
          <a:lstStyle/>
          <a:p>
            <a:pPr indent="0" marL="0">
              <a:buNone/>
            </a:pPr>
            <a:r>
              <a:rPr lang="en-US" sz="1200" dirty="0">
                <a:solidFill>
                  <a:srgbClr val="7FB8B4"/>
                </a:solidFill>
                <a:latin typeface="Calibri" pitchFamily="34" charset="0"/>
                <a:ea typeface="Calibri" pitchFamily="34" charset="-122"/>
                <a:cs typeface="Calibri" pitchFamily="34" charset="-120"/>
              </a:rPr>
              <a:t>AB Talks 60-Day Claude AI Challenge  •  10-Day Capstone  •  v1.0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822960"/>
            <a:ext cx="8686800" cy="822960"/>
          </a:xfrm>
          <a:prstGeom prst="rect">
            <a:avLst/>
          </a:prstGeom>
          <a:noFill/>
          <a:ln/>
        </p:spPr>
        <p:txBody>
          <a:bodyPr wrap="square" rtlCol="0" anchor="ctr"/>
          <a:lstStyle/>
          <a:p>
            <a:pPr indent="0" marL="0">
              <a:buNone/>
            </a:pPr>
            <a:r>
              <a:rPr lang="en-US" sz="3200" b="1" dirty="0">
                <a:solidFill>
                  <a:srgbClr val="1A2E2E"/>
                </a:solidFill>
                <a:latin typeface="Cambria" pitchFamily="34" charset="0"/>
                <a:ea typeface="Cambria" pitchFamily="34" charset="-122"/>
                <a:cs typeface="Cambria" pitchFamily="34" charset="-120"/>
              </a:rPr>
              <a:t>Motivation dies when progress feels invisible.</a:t>
            </a:r>
            <a:endParaRPr lang="en-US" sz="3200" dirty="0"/>
          </a:p>
        </p:txBody>
      </p:sp>
      <p:sp>
        <p:nvSpPr>
          <p:cNvPr id="4" name="Shape 2"/>
          <p:cNvSpPr/>
          <p:nvPr/>
        </p:nvSpPr>
        <p:spPr>
          <a:xfrm>
            <a:off x="640080" y="1965960"/>
            <a:ext cx="3520440" cy="3566160"/>
          </a:xfrm>
          <a:prstGeom prst="roundRect">
            <a:avLst>
              <a:gd name="adj" fmla="val 3117"/>
            </a:avLst>
          </a:prstGeom>
          <a:solidFill>
            <a:srgbClr val="FFFFFF"/>
          </a:solidFill>
          <a:ln w="12700">
            <a:solidFill>
              <a:srgbClr val="DCEAE8"/>
            </a:solidFill>
            <a:prstDash val="solid"/>
          </a:ln>
          <a:effectLst>
            <a:outerShdw sx="100000" sy="100000" kx="0" ky="0" algn="bl" rotWithShape="0" blurRad="101600" dist="38100" dir="5400000">
              <a:srgbClr val="1A2E2E">
                <a:alpha val="12000"/>
              </a:srgbClr>
            </a:outerShdw>
          </a:effectLst>
        </p:spPr>
      </p:sp>
      <p:sp>
        <p:nvSpPr>
          <p:cNvPr id="5" name="Shape 3"/>
          <p:cNvSpPr/>
          <p:nvPr/>
        </p:nvSpPr>
        <p:spPr>
          <a:xfrm>
            <a:off x="914400" y="2286000"/>
            <a:ext cx="548640" cy="548640"/>
          </a:xfrm>
          <a:prstGeom prst="ellipse">
            <a:avLst/>
          </a:prstGeom>
          <a:solidFill>
            <a:srgbClr val="00A896"/>
          </a:solidFill>
          <a:ln/>
        </p:spPr>
      </p:sp>
      <p:sp>
        <p:nvSpPr>
          <p:cNvPr id="6" name="Text 4"/>
          <p:cNvSpPr/>
          <p:nvPr/>
        </p:nvSpPr>
        <p:spPr>
          <a:xfrm>
            <a:off x="914400" y="22860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914400" y="3017520"/>
            <a:ext cx="2971800" cy="548640"/>
          </a:xfrm>
          <a:prstGeom prst="rect">
            <a:avLst/>
          </a:prstGeom>
          <a:noFill/>
          <a:ln/>
        </p:spPr>
        <p:txBody>
          <a:bodyPr wrap="square" rtlCol="0" anchor="ctr"/>
          <a:lstStyle/>
          <a:p>
            <a:pPr indent="0" marL="0">
              <a:buNone/>
            </a:pPr>
            <a:r>
              <a:rPr lang="en-US" sz="1700" b="1" dirty="0">
                <a:solidFill>
                  <a:srgbClr val="1A2E2E"/>
                </a:solidFill>
                <a:latin typeface="Calibri" pitchFamily="34" charset="0"/>
                <a:ea typeface="Calibri" pitchFamily="34" charset="-122"/>
                <a:cs typeface="Calibri" pitchFamily="34" charset="-120"/>
              </a:rPr>
              <a:t>Numbers lag reality</a:t>
            </a:r>
            <a:endParaRPr lang="en-US" sz="1700" dirty="0"/>
          </a:p>
        </p:txBody>
      </p:sp>
      <p:sp>
        <p:nvSpPr>
          <p:cNvPr id="8" name="Text 6"/>
          <p:cNvSpPr/>
          <p:nvPr/>
        </p:nvSpPr>
        <p:spPr>
          <a:xfrm>
            <a:off x="914400" y="3566160"/>
            <a:ext cx="2971800" cy="1737360"/>
          </a:xfrm>
          <a:prstGeom prst="rect">
            <a:avLst/>
          </a:prstGeom>
          <a:noFill/>
          <a:ln/>
        </p:spPr>
        <p:txBody>
          <a:bodyPr wrap="square" rtlCol="0" anchor="t"/>
          <a:lstStyle/>
          <a:p>
            <a:pPr indent="0" marL="0">
              <a:buNone/>
            </a:pPr>
            <a:r>
              <a:rPr lang="en-US" sz="1250" dirty="0">
                <a:solidFill>
                  <a:srgbClr val="5A6E6E"/>
                </a:solidFill>
                <a:latin typeface="Calibri" pitchFamily="34" charset="0"/>
                <a:ea typeface="Calibri" pitchFamily="34" charset="-122"/>
                <a:cs typeface="Calibri" pitchFamily="34" charset="-120"/>
              </a:rPr>
              <a:t>Weight, reps, and calories change slowly, even when someone is genuinely doing better.</a:t>
            </a:r>
            <a:endParaRPr lang="en-US" sz="1250" dirty="0"/>
          </a:p>
        </p:txBody>
      </p:sp>
      <p:sp>
        <p:nvSpPr>
          <p:cNvPr id="9" name="Shape 7"/>
          <p:cNvSpPr/>
          <p:nvPr/>
        </p:nvSpPr>
        <p:spPr>
          <a:xfrm>
            <a:off x="4480560" y="1965960"/>
            <a:ext cx="3520440" cy="3566160"/>
          </a:xfrm>
          <a:prstGeom prst="roundRect">
            <a:avLst>
              <a:gd name="adj" fmla="val 3117"/>
            </a:avLst>
          </a:prstGeom>
          <a:solidFill>
            <a:srgbClr val="FFFFFF"/>
          </a:solidFill>
          <a:ln w="12700">
            <a:solidFill>
              <a:srgbClr val="DCEAE8"/>
            </a:solidFill>
            <a:prstDash val="solid"/>
          </a:ln>
          <a:effectLst>
            <a:outerShdw sx="100000" sy="100000" kx="0" ky="0" algn="bl" rotWithShape="0" blurRad="101600" dist="38100" dir="5400000">
              <a:srgbClr val="1A2E2E">
                <a:alpha val="12000"/>
              </a:srgbClr>
            </a:outerShdw>
          </a:effectLst>
        </p:spPr>
      </p:sp>
      <p:sp>
        <p:nvSpPr>
          <p:cNvPr id="10" name="Shape 8"/>
          <p:cNvSpPr/>
          <p:nvPr/>
        </p:nvSpPr>
        <p:spPr>
          <a:xfrm>
            <a:off x="4754880" y="2286000"/>
            <a:ext cx="548640" cy="548640"/>
          </a:xfrm>
          <a:prstGeom prst="ellipse">
            <a:avLst/>
          </a:prstGeom>
          <a:solidFill>
            <a:srgbClr val="00A896"/>
          </a:solidFill>
          <a:ln/>
        </p:spPr>
      </p:sp>
      <p:sp>
        <p:nvSpPr>
          <p:cNvPr id="11" name="Text 9"/>
          <p:cNvSpPr/>
          <p:nvPr/>
        </p:nvSpPr>
        <p:spPr>
          <a:xfrm>
            <a:off x="4754880" y="22860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4754880" y="3017520"/>
            <a:ext cx="2971800" cy="548640"/>
          </a:xfrm>
          <a:prstGeom prst="rect">
            <a:avLst/>
          </a:prstGeom>
          <a:noFill/>
          <a:ln/>
        </p:spPr>
        <p:txBody>
          <a:bodyPr wrap="square" rtlCol="0" anchor="ctr"/>
          <a:lstStyle/>
          <a:p>
            <a:pPr indent="0" marL="0">
              <a:buNone/>
            </a:pPr>
            <a:r>
              <a:rPr lang="en-US" sz="1700" b="1" dirty="0">
                <a:solidFill>
                  <a:srgbClr val="1A2E2E"/>
                </a:solidFill>
                <a:latin typeface="Calibri" pitchFamily="34" charset="0"/>
                <a:ea typeface="Calibri" pitchFamily="34" charset="-122"/>
                <a:cs typeface="Calibri" pitchFamily="34" charset="-120"/>
              </a:rPr>
              <a:t>Feelings are ignored</a:t>
            </a:r>
            <a:endParaRPr lang="en-US" sz="1700" dirty="0"/>
          </a:p>
        </p:txBody>
      </p:sp>
      <p:sp>
        <p:nvSpPr>
          <p:cNvPr id="13" name="Text 11"/>
          <p:cNvSpPr/>
          <p:nvPr/>
        </p:nvSpPr>
        <p:spPr>
          <a:xfrm>
            <a:off x="4754880" y="3566160"/>
            <a:ext cx="2971800" cy="1737360"/>
          </a:xfrm>
          <a:prstGeom prst="rect">
            <a:avLst/>
          </a:prstGeom>
          <a:noFill/>
          <a:ln/>
        </p:spPr>
        <p:txBody>
          <a:bodyPr wrap="square" rtlCol="0" anchor="t"/>
          <a:lstStyle/>
          <a:p>
            <a:pPr indent="0" marL="0">
              <a:buNone/>
            </a:pPr>
            <a:r>
              <a:rPr lang="en-US" sz="1250" dirty="0">
                <a:solidFill>
                  <a:srgbClr val="5A6E6E"/>
                </a:solidFill>
                <a:latin typeface="Calibri" pitchFamily="34" charset="0"/>
                <a:ea typeface="Calibri" pitchFamily="34" charset="-122"/>
                <a:cs typeface="Calibri" pitchFamily="34" charset="-120"/>
              </a:rPr>
              <a:t>Energy, mood, stress, and soreness are the first thing people notice day-to-day — and almost no app tracks them alongside habits.</a:t>
            </a:r>
            <a:endParaRPr lang="en-US" sz="1250" dirty="0"/>
          </a:p>
        </p:txBody>
      </p:sp>
      <p:sp>
        <p:nvSpPr>
          <p:cNvPr id="14" name="Shape 12"/>
          <p:cNvSpPr/>
          <p:nvPr/>
        </p:nvSpPr>
        <p:spPr>
          <a:xfrm>
            <a:off x="8321040" y="1965960"/>
            <a:ext cx="3520440" cy="3566160"/>
          </a:xfrm>
          <a:prstGeom prst="roundRect">
            <a:avLst>
              <a:gd name="adj" fmla="val 3117"/>
            </a:avLst>
          </a:prstGeom>
          <a:solidFill>
            <a:srgbClr val="FFFFFF"/>
          </a:solidFill>
          <a:ln w="12700">
            <a:solidFill>
              <a:srgbClr val="DCEAE8"/>
            </a:solidFill>
            <a:prstDash val="solid"/>
          </a:ln>
          <a:effectLst>
            <a:outerShdw sx="100000" sy="100000" kx="0" ky="0" algn="bl" rotWithShape="0" blurRad="101600" dist="38100" dir="5400000">
              <a:srgbClr val="1A2E2E">
                <a:alpha val="12000"/>
              </a:srgbClr>
            </a:outerShdw>
          </a:effectLst>
        </p:spPr>
      </p:sp>
      <p:sp>
        <p:nvSpPr>
          <p:cNvPr id="15" name="Shape 13"/>
          <p:cNvSpPr/>
          <p:nvPr/>
        </p:nvSpPr>
        <p:spPr>
          <a:xfrm>
            <a:off x="8595360" y="2286000"/>
            <a:ext cx="548640" cy="548640"/>
          </a:xfrm>
          <a:prstGeom prst="ellipse">
            <a:avLst/>
          </a:prstGeom>
          <a:solidFill>
            <a:srgbClr val="00A896"/>
          </a:solidFill>
          <a:ln/>
        </p:spPr>
      </p:sp>
      <p:sp>
        <p:nvSpPr>
          <p:cNvPr id="16" name="Text 14"/>
          <p:cNvSpPr/>
          <p:nvPr/>
        </p:nvSpPr>
        <p:spPr>
          <a:xfrm>
            <a:off x="8595360" y="228600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8595360" y="3017520"/>
            <a:ext cx="2971800" cy="548640"/>
          </a:xfrm>
          <a:prstGeom prst="rect">
            <a:avLst/>
          </a:prstGeom>
          <a:noFill/>
          <a:ln/>
        </p:spPr>
        <p:txBody>
          <a:bodyPr wrap="square" rtlCol="0" anchor="ctr"/>
          <a:lstStyle/>
          <a:p>
            <a:pPr indent="0" marL="0">
              <a:buNone/>
            </a:pPr>
            <a:r>
              <a:rPr lang="en-US" sz="1700" b="1" dirty="0">
                <a:solidFill>
                  <a:srgbClr val="1A2E2E"/>
                </a:solidFill>
                <a:latin typeface="Calibri" pitchFamily="34" charset="0"/>
                <a:ea typeface="Calibri" pitchFamily="34" charset="-122"/>
                <a:cs typeface="Calibri" pitchFamily="34" charset="-120"/>
              </a:rPr>
              <a:t>No cause and effect</a:t>
            </a:r>
            <a:endParaRPr lang="en-US" sz="1700" dirty="0"/>
          </a:p>
        </p:txBody>
      </p:sp>
      <p:sp>
        <p:nvSpPr>
          <p:cNvPr id="18" name="Text 16"/>
          <p:cNvSpPr/>
          <p:nvPr/>
        </p:nvSpPr>
        <p:spPr>
          <a:xfrm>
            <a:off x="8595360" y="3566160"/>
            <a:ext cx="2971800" cy="1737360"/>
          </a:xfrm>
          <a:prstGeom prst="rect">
            <a:avLst/>
          </a:prstGeom>
          <a:noFill/>
          <a:ln/>
        </p:spPr>
        <p:txBody>
          <a:bodyPr wrap="square" rtlCol="0" anchor="t"/>
          <a:lstStyle/>
          <a:p>
            <a:pPr indent="0" marL="0">
              <a:buNone/>
            </a:pPr>
            <a:r>
              <a:rPr lang="en-US" sz="1250" dirty="0">
                <a:solidFill>
                  <a:srgbClr val="5A6E6E"/>
                </a:solidFill>
                <a:latin typeface="Calibri" pitchFamily="34" charset="0"/>
                <a:ea typeface="Calibri" pitchFamily="34" charset="-122"/>
                <a:cs typeface="Calibri" pitchFamily="34" charset="-120"/>
              </a:rPr>
              <a:t>People log data but never see *why* they feel a certain way, so there's nothing to hold onto when motivation dips.</a:t>
            </a:r>
            <a:endParaRPr lang="en-US" sz="1250" dirty="0"/>
          </a:p>
        </p:txBody>
      </p:sp>
      <p:sp>
        <p:nvSpPr>
          <p:cNvPr id="19" name="Text 17"/>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20" name="Text 18"/>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TARGET USERS</a:t>
            </a:r>
            <a:endParaRPr lang="en-US" sz="1300" dirty="0"/>
          </a:p>
        </p:txBody>
      </p:sp>
      <p:sp>
        <p:nvSpPr>
          <p:cNvPr id="3" name="Text 1"/>
          <p:cNvSpPr/>
          <p:nvPr/>
        </p:nvSpPr>
        <p:spPr>
          <a:xfrm>
            <a:off x="640080" y="822960"/>
            <a:ext cx="8686800" cy="822960"/>
          </a:xfrm>
          <a:prstGeom prst="rect">
            <a:avLst/>
          </a:prstGeom>
          <a:noFill/>
          <a:ln/>
        </p:spPr>
        <p:txBody>
          <a:bodyPr wrap="square" rtlCol="0" anchor="ctr"/>
          <a:lstStyle/>
          <a:p>
            <a:pPr indent="0" marL="0">
              <a:buNone/>
            </a:pPr>
            <a:r>
              <a:rPr lang="en-US" sz="3200" b="1" dirty="0">
                <a:solidFill>
                  <a:srgbClr val="1A2E2E"/>
                </a:solidFill>
                <a:latin typeface="Cambria" pitchFamily="34" charset="0"/>
                <a:ea typeface="Cambria" pitchFamily="34" charset="-122"/>
                <a:cs typeface="Cambria" pitchFamily="34" charset="-120"/>
              </a:rPr>
              <a:t>Built for everyday people, not athletes.</a:t>
            </a:r>
            <a:endParaRPr lang="en-US" sz="3200" dirty="0"/>
          </a:p>
        </p:txBody>
      </p:sp>
      <p:sp>
        <p:nvSpPr>
          <p:cNvPr id="4" name="Shape 2"/>
          <p:cNvSpPr/>
          <p:nvPr/>
        </p:nvSpPr>
        <p:spPr>
          <a:xfrm>
            <a:off x="640080" y="1828800"/>
            <a:ext cx="6400800" cy="3931920"/>
          </a:xfrm>
          <a:prstGeom prst="roundRect">
            <a:avLst>
              <a:gd name="adj" fmla="val 2791"/>
            </a:avLst>
          </a:prstGeom>
          <a:solidFill>
            <a:srgbClr val="F7FBFA"/>
          </a:solidFill>
          <a:ln/>
        </p:spPr>
      </p:sp>
      <p:sp>
        <p:nvSpPr>
          <p:cNvPr id="5" name="Text 3"/>
          <p:cNvSpPr/>
          <p:nvPr/>
        </p:nvSpPr>
        <p:spPr>
          <a:xfrm>
            <a:off x="1005840" y="2103120"/>
            <a:ext cx="5486400" cy="365760"/>
          </a:xfrm>
          <a:prstGeom prst="rect">
            <a:avLst/>
          </a:prstGeom>
          <a:noFill/>
          <a:ln/>
        </p:spPr>
        <p:txBody>
          <a:bodyPr wrap="square"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Primary audience</a:t>
            </a:r>
            <a:endParaRPr lang="en-US" sz="1500" dirty="0"/>
          </a:p>
        </p:txBody>
      </p:sp>
      <p:sp>
        <p:nvSpPr>
          <p:cNvPr id="6" name="Text 4"/>
          <p:cNvSpPr/>
          <p:nvPr/>
        </p:nvSpPr>
        <p:spPr>
          <a:xfrm>
            <a:off x="1005840" y="2560320"/>
            <a:ext cx="5760720" cy="3017520"/>
          </a:xfrm>
          <a:prstGeom prst="rect">
            <a:avLst/>
          </a:prstGeom>
          <a:noFill/>
          <a:ln/>
        </p:spPr>
        <p:txBody>
          <a:bodyPr wrap="square" rtlCol="0" anchor="t"/>
          <a:lstStyle/>
          <a:p>
            <a:pPr marL="342900" indent="-342900">
              <a:spcAft>
                <a:spcPts val="1000"/>
              </a:spcAft>
              <a:buSzPct val="100000"/>
              <a:buChar char="•"/>
            </a:pPr>
            <a:r>
              <a:rPr lang="en-US" sz="1450" dirty="0">
                <a:solidFill>
                  <a:srgbClr val="1A2E2E"/>
                </a:solidFill>
                <a:latin typeface="Calibri" pitchFamily="34" charset="0"/>
                <a:ea typeface="Calibri" pitchFamily="34" charset="-122"/>
                <a:cs typeface="Calibri" pitchFamily="34" charset="-120"/>
              </a:rPr>
              <a:t>Everyday people trying to build sustainable health and fitness habits</a:t>
            </a:r>
            <a:endParaRPr lang="en-US" sz="1450" dirty="0"/>
          </a:p>
          <a:p>
            <a:pPr marL="342900" indent="-342900">
              <a:spcAft>
                <a:spcPts val="1000"/>
              </a:spcAft>
              <a:buSzPct val="100000"/>
              <a:buChar char="•"/>
            </a:pPr>
            <a:r>
              <a:rPr lang="en-US" sz="1450" dirty="0">
                <a:solidFill>
                  <a:srgbClr val="1A2E2E"/>
                </a:solidFill>
                <a:latin typeface="Calibri" pitchFamily="34" charset="0"/>
                <a:ea typeface="Calibri" pitchFamily="34" charset="-122"/>
                <a:cs typeface="Calibri" pitchFamily="34" charset="-120"/>
              </a:rPr>
              <a:t>People who've tried habit trackers before and quit — because the numbers never matched how they actually felt</a:t>
            </a:r>
            <a:endParaRPr lang="en-US" sz="1450" dirty="0"/>
          </a:p>
          <a:p>
            <a:pPr marL="342900" indent="-342900">
              <a:spcAft>
                <a:spcPts val="1000"/>
              </a:spcAft>
              <a:buSzPct val="100000"/>
              <a:buChar char="•"/>
            </a:pPr>
            <a:r>
              <a:rPr lang="en-US" sz="1450" dirty="0">
                <a:solidFill>
                  <a:srgbClr val="1A2E2E"/>
                </a:solidFill>
                <a:latin typeface="Calibri" pitchFamily="34" charset="0"/>
                <a:ea typeface="Calibri" pitchFamily="34" charset="-122"/>
                <a:cs typeface="Calibri" pitchFamily="34" charset="-120"/>
              </a:rPr>
              <a:t>General audience — not clinical, not elite athletes, not medical recovery cases</a:t>
            </a:r>
            <a:endParaRPr lang="en-US" sz="1450" dirty="0"/>
          </a:p>
        </p:txBody>
      </p:sp>
      <p:sp>
        <p:nvSpPr>
          <p:cNvPr id="7" name="Shape 5"/>
          <p:cNvSpPr/>
          <p:nvPr/>
        </p:nvSpPr>
        <p:spPr>
          <a:xfrm>
            <a:off x="7360920" y="1828800"/>
            <a:ext cx="4160520" cy="3931920"/>
          </a:xfrm>
          <a:prstGeom prst="roundRect">
            <a:avLst>
              <a:gd name="adj" fmla="val 2791"/>
            </a:avLst>
          </a:prstGeom>
          <a:solidFill>
            <a:srgbClr val="0B3D3F"/>
          </a:solidFill>
          <a:ln/>
        </p:spPr>
      </p:sp>
      <p:sp>
        <p:nvSpPr>
          <p:cNvPr id="8" name="Text 6"/>
          <p:cNvSpPr/>
          <p:nvPr/>
        </p:nvSpPr>
        <p:spPr>
          <a:xfrm>
            <a:off x="7680960" y="2103120"/>
            <a:ext cx="365760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Not in scope (v1.0)</a:t>
            </a:r>
            <a:endParaRPr lang="en-US" sz="1500" dirty="0"/>
          </a:p>
        </p:txBody>
      </p:sp>
      <p:sp>
        <p:nvSpPr>
          <p:cNvPr id="9" name="Text 7"/>
          <p:cNvSpPr/>
          <p:nvPr/>
        </p:nvSpPr>
        <p:spPr>
          <a:xfrm>
            <a:off x="7680960" y="2560320"/>
            <a:ext cx="3566160" cy="2926080"/>
          </a:xfrm>
          <a:prstGeom prst="rect">
            <a:avLst/>
          </a:prstGeom>
          <a:noFill/>
          <a:ln/>
        </p:spPr>
        <p:txBody>
          <a:bodyPr wrap="square" rtlCol="0" anchor="t"/>
          <a:lstStyle/>
          <a:p>
            <a:pPr marL="342900" indent="-342900">
              <a:spcAft>
                <a:spcPts val="1000"/>
              </a:spcAft>
              <a:buSzPct val="100000"/>
              <a:buChar char="•"/>
            </a:pPr>
            <a:r>
              <a:rPr lang="en-US" sz="1350" dirty="0">
                <a:solidFill>
                  <a:srgbClr val="E3F4F2"/>
                </a:solidFill>
                <a:latin typeface="Calibri" pitchFamily="34" charset="0"/>
                <a:ea typeface="Calibri" pitchFamily="34" charset="-122"/>
                <a:cs typeface="Calibri" pitchFamily="34" charset="-120"/>
              </a:rPr>
              <a:t>Elite athletes optimizing performance</a:t>
            </a:r>
            <a:endParaRPr lang="en-US" sz="1350" dirty="0"/>
          </a:p>
          <a:p>
            <a:pPr marL="342900" indent="-342900">
              <a:spcAft>
                <a:spcPts val="1000"/>
              </a:spcAft>
              <a:buSzPct val="100000"/>
              <a:buChar char="•"/>
            </a:pPr>
            <a:r>
              <a:rPr lang="en-US" sz="1350" dirty="0">
                <a:solidFill>
                  <a:srgbClr val="E3F4F2"/>
                </a:solidFill>
                <a:latin typeface="Calibri" pitchFamily="34" charset="0"/>
                <a:ea typeface="Calibri" pitchFamily="34" charset="-122"/>
                <a:cs typeface="Calibri" pitchFamily="34" charset="-120"/>
              </a:rPr>
              <a:t>Clinical / medical recovery populations</a:t>
            </a:r>
            <a:endParaRPr lang="en-US" sz="1350" dirty="0"/>
          </a:p>
          <a:p>
            <a:pPr marL="342900" indent="-342900">
              <a:spcAft>
                <a:spcPts val="1000"/>
              </a:spcAft>
              <a:buSzPct val="100000"/>
              <a:buChar char="•"/>
            </a:pPr>
            <a:r>
              <a:rPr lang="en-US" sz="1350" dirty="0">
                <a:solidFill>
                  <a:srgbClr val="E3F4F2"/>
                </a:solidFill>
                <a:latin typeface="Calibri" pitchFamily="34" charset="0"/>
                <a:ea typeface="Calibri" pitchFamily="34" charset="-122"/>
                <a:cs typeface="Calibri" pitchFamily="34" charset="-120"/>
              </a:rPr>
              <a:t>Anyone needing professional health guidance</a:t>
            </a:r>
            <a:endParaRPr lang="en-US" sz="1350" dirty="0"/>
          </a:p>
        </p:txBody>
      </p:sp>
      <p:sp>
        <p:nvSpPr>
          <p:cNvPr id="10" name="Text 8"/>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11" name="Text 9"/>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640080" y="822960"/>
            <a:ext cx="10058400" cy="822960"/>
          </a:xfrm>
          <a:prstGeom prst="rect">
            <a:avLst/>
          </a:prstGeom>
          <a:noFill/>
          <a:ln/>
        </p:spPr>
        <p:txBody>
          <a:bodyPr wrap="square" rtlCol="0" anchor="ctr"/>
          <a:lstStyle/>
          <a:p>
            <a:pPr indent="0" marL="0">
              <a:buNone/>
            </a:pPr>
            <a:r>
              <a:rPr lang="en-US" sz="3000" b="1" dirty="0">
                <a:solidFill>
                  <a:srgbClr val="1A2E2E"/>
                </a:solidFill>
                <a:latin typeface="Cambria" pitchFamily="34" charset="0"/>
                <a:ea typeface="Cambria" pitchFamily="34" charset="-122"/>
                <a:cs typeface="Cambria" pitchFamily="34" charset="-120"/>
              </a:rPr>
              <a:t>One daily check-in. Real cause-and-effect insight.</a:t>
            </a:r>
            <a:endParaRPr lang="en-US" sz="3000" dirty="0"/>
          </a:p>
        </p:txBody>
      </p:sp>
      <p:sp>
        <p:nvSpPr>
          <p:cNvPr id="4" name="Shape 2"/>
          <p:cNvSpPr/>
          <p:nvPr/>
        </p:nvSpPr>
        <p:spPr>
          <a:xfrm>
            <a:off x="2057400" y="2377440"/>
            <a:ext cx="822960" cy="822960"/>
          </a:xfrm>
          <a:prstGeom prst="ellipse">
            <a:avLst/>
          </a:prstGeom>
          <a:solidFill>
            <a:srgbClr val="028090"/>
          </a:solidFill>
          <a:ln/>
        </p:spPr>
      </p:sp>
      <p:sp>
        <p:nvSpPr>
          <p:cNvPr id="5" name="Text 3"/>
          <p:cNvSpPr/>
          <p:nvPr/>
        </p:nvSpPr>
        <p:spPr>
          <a:xfrm>
            <a:off x="205740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822960" y="3337560"/>
            <a:ext cx="3291840" cy="457200"/>
          </a:xfrm>
          <a:prstGeom prst="rect">
            <a:avLst/>
          </a:prstGeom>
          <a:noFill/>
          <a:ln/>
        </p:spPr>
        <p:txBody>
          <a:bodyPr wrap="square" rtlCol="0" anchor="ctr"/>
          <a:lstStyle/>
          <a:p>
            <a:pPr algn="ctr" indent="0" marL="0">
              <a:buNone/>
            </a:pPr>
            <a:r>
              <a:rPr lang="en-US" sz="1900" b="1" dirty="0">
                <a:solidFill>
                  <a:srgbClr val="1A2E2E"/>
                </a:solidFill>
                <a:latin typeface="Calibri" pitchFamily="34" charset="0"/>
                <a:ea typeface="Calibri" pitchFamily="34" charset="-122"/>
                <a:cs typeface="Calibri" pitchFamily="34" charset="-120"/>
              </a:rPr>
              <a:t>Log</a:t>
            </a:r>
            <a:endParaRPr lang="en-US" sz="1900" dirty="0"/>
          </a:p>
        </p:txBody>
      </p:sp>
      <p:sp>
        <p:nvSpPr>
          <p:cNvPr id="7" name="Text 5"/>
          <p:cNvSpPr/>
          <p:nvPr/>
        </p:nvSpPr>
        <p:spPr>
          <a:xfrm>
            <a:off x="822960" y="3794760"/>
            <a:ext cx="3291840" cy="1188720"/>
          </a:xfrm>
          <a:prstGeom prst="rect">
            <a:avLst/>
          </a:prstGeom>
          <a:noFill/>
          <a:ln/>
        </p:spPr>
        <p:txBody>
          <a:bodyPr wrap="square" rtlCol="0" anchor="ctr"/>
          <a:lstStyle/>
          <a:p>
            <a:pPr algn="ctr" indent="0" marL="0">
              <a:buNone/>
            </a:pPr>
            <a:r>
              <a:rPr lang="en-US" sz="1300" dirty="0">
                <a:solidFill>
                  <a:srgbClr val="5A6E6E"/>
                </a:solidFill>
                <a:latin typeface="Calibri" pitchFamily="34" charset="0"/>
                <a:ea typeface="Calibri" pitchFamily="34" charset="-122"/>
                <a:cs typeface="Calibri" pitchFamily="34" charset="-120"/>
              </a:rPr>
              <a:t>One simple daily check-in: 4 habits + 4 feelings, under 60 seconds.</a:t>
            </a:r>
            <a:endParaRPr lang="en-US" sz="1300" dirty="0"/>
          </a:p>
        </p:txBody>
      </p:sp>
      <p:sp>
        <p:nvSpPr>
          <p:cNvPr id="8" name="Text 6"/>
          <p:cNvSpPr/>
          <p:nvPr/>
        </p:nvSpPr>
        <p:spPr>
          <a:xfrm>
            <a:off x="4160520" y="2514600"/>
            <a:ext cx="365760" cy="640080"/>
          </a:xfrm>
          <a:prstGeom prst="rect">
            <a:avLst/>
          </a:prstGeom>
          <a:noFill/>
          <a:ln/>
        </p:spPr>
        <p:txBody>
          <a:bodyPr wrap="square" rtlCol="0" anchor="ctr"/>
          <a:lstStyle/>
          <a:p>
            <a:pPr algn="ctr" indent="0" marL="0">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5806440" y="2377440"/>
            <a:ext cx="822960" cy="822960"/>
          </a:xfrm>
          <a:prstGeom prst="ellipse">
            <a:avLst/>
          </a:prstGeom>
          <a:solidFill>
            <a:srgbClr val="028090"/>
          </a:solidFill>
          <a:ln/>
        </p:spPr>
      </p:sp>
      <p:sp>
        <p:nvSpPr>
          <p:cNvPr id="10" name="Text 8"/>
          <p:cNvSpPr/>
          <p:nvPr/>
        </p:nvSpPr>
        <p:spPr>
          <a:xfrm>
            <a:off x="580644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4572000" y="3337560"/>
            <a:ext cx="3291840" cy="457200"/>
          </a:xfrm>
          <a:prstGeom prst="rect">
            <a:avLst/>
          </a:prstGeom>
          <a:noFill/>
          <a:ln/>
        </p:spPr>
        <p:txBody>
          <a:bodyPr wrap="square" rtlCol="0" anchor="ctr"/>
          <a:lstStyle/>
          <a:p>
            <a:pPr algn="ctr" indent="0" marL="0">
              <a:buNone/>
            </a:pPr>
            <a:r>
              <a:rPr lang="en-US" sz="1900" b="1" dirty="0">
                <a:solidFill>
                  <a:srgbClr val="1A2E2E"/>
                </a:solidFill>
                <a:latin typeface="Calibri" pitchFamily="34" charset="0"/>
                <a:ea typeface="Calibri" pitchFamily="34" charset="-122"/>
                <a:cs typeface="Calibri" pitchFamily="34" charset="-120"/>
              </a:rPr>
              <a:t>Analyze</a:t>
            </a:r>
            <a:endParaRPr lang="en-US" sz="1900" dirty="0"/>
          </a:p>
        </p:txBody>
      </p:sp>
      <p:sp>
        <p:nvSpPr>
          <p:cNvPr id="12" name="Text 10"/>
          <p:cNvSpPr/>
          <p:nvPr/>
        </p:nvSpPr>
        <p:spPr>
          <a:xfrm>
            <a:off x="4572000" y="3794760"/>
            <a:ext cx="3291840" cy="1188720"/>
          </a:xfrm>
          <a:prstGeom prst="rect">
            <a:avLst/>
          </a:prstGeom>
          <a:noFill/>
          <a:ln/>
        </p:spPr>
        <p:txBody>
          <a:bodyPr wrap="square" rtlCol="0" anchor="ctr"/>
          <a:lstStyle/>
          <a:p>
            <a:pPr algn="ctr" indent="0" marL="0">
              <a:buNone/>
            </a:pPr>
            <a:r>
              <a:rPr lang="en-US" sz="1300" dirty="0">
                <a:solidFill>
                  <a:srgbClr val="5A6E6E"/>
                </a:solidFill>
                <a:latin typeface="Calibri" pitchFamily="34" charset="0"/>
                <a:ea typeface="Calibri" pitchFamily="34" charset="-122"/>
                <a:cs typeface="Calibri" pitchFamily="34" charset="-120"/>
              </a:rPr>
              <a:t>A self-built statistical engine compares your habit days against your feeling scores.</a:t>
            </a:r>
            <a:endParaRPr lang="en-US" sz="1300" dirty="0"/>
          </a:p>
        </p:txBody>
      </p:sp>
      <p:sp>
        <p:nvSpPr>
          <p:cNvPr id="13" name="Text 11"/>
          <p:cNvSpPr/>
          <p:nvPr/>
        </p:nvSpPr>
        <p:spPr>
          <a:xfrm>
            <a:off x="7909560" y="2514600"/>
            <a:ext cx="365760" cy="640080"/>
          </a:xfrm>
          <a:prstGeom prst="rect">
            <a:avLst/>
          </a:prstGeom>
          <a:noFill/>
          <a:ln/>
        </p:spPr>
        <p:txBody>
          <a:bodyPr wrap="square" rtlCol="0" anchor="ctr"/>
          <a:lstStyle/>
          <a:p>
            <a:pPr algn="ctr" indent="0" marL="0">
              <a:buNone/>
            </a:pPr>
            <a:r>
              <a:rPr lang="en-US" sz="2600" b="1" dirty="0">
                <a:solidFill>
                  <a:srgbClr val="00A896"/>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9555480" y="2377440"/>
            <a:ext cx="822960" cy="822960"/>
          </a:xfrm>
          <a:prstGeom prst="ellipse">
            <a:avLst/>
          </a:prstGeom>
          <a:solidFill>
            <a:srgbClr val="02C39A"/>
          </a:solidFill>
          <a:ln/>
        </p:spPr>
      </p:sp>
      <p:sp>
        <p:nvSpPr>
          <p:cNvPr id="15" name="Text 13"/>
          <p:cNvSpPr/>
          <p:nvPr/>
        </p:nvSpPr>
        <p:spPr>
          <a:xfrm>
            <a:off x="955548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8321040" y="3337560"/>
            <a:ext cx="3291840" cy="457200"/>
          </a:xfrm>
          <a:prstGeom prst="rect">
            <a:avLst/>
          </a:prstGeom>
          <a:noFill/>
          <a:ln/>
        </p:spPr>
        <p:txBody>
          <a:bodyPr wrap="square" rtlCol="0" anchor="ctr"/>
          <a:lstStyle/>
          <a:p>
            <a:pPr algn="ctr" indent="0" marL="0">
              <a:buNone/>
            </a:pPr>
            <a:r>
              <a:rPr lang="en-US" sz="1900" b="1" dirty="0">
                <a:solidFill>
                  <a:srgbClr val="1A2E2E"/>
                </a:solidFill>
                <a:latin typeface="Calibri" pitchFamily="34" charset="0"/>
                <a:ea typeface="Calibri" pitchFamily="34" charset="-122"/>
                <a:cs typeface="Calibri" pitchFamily="34" charset="-120"/>
              </a:rPr>
              <a:t>Reveal</a:t>
            </a:r>
            <a:endParaRPr lang="en-US" sz="1900" dirty="0"/>
          </a:p>
        </p:txBody>
      </p:sp>
      <p:sp>
        <p:nvSpPr>
          <p:cNvPr id="17" name="Text 15"/>
          <p:cNvSpPr/>
          <p:nvPr/>
        </p:nvSpPr>
        <p:spPr>
          <a:xfrm>
            <a:off x="8321040" y="3794760"/>
            <a:ext cx="3291840" cy="1188720"/>
          </a:xfrm>
          <a:prstGeom prst="rect">
            <a:avLst/>
          </a:prstGeom>
          <a:noFill/>
          <a:ln/>
        </p:spPr>
        <p:txBody>
          <a:bodyPr wrap="square" rtlCol="0" anchor="ctr"/>
          <a:lstStyle/>
          <a:p>
            <a:pPr algn="ctr" indent="0" marL="0">
              <a:buNone/>
            </a:pPr>
            <a:r>
              <a:rPr lang="en-US" sz="1300" dirty="0">
                <a:solidFill>
                  <a:srgbClr val="5A6E6E"/>
                </a:solidFill>
                <a:latin typeface="Calibri" pitchFamily="34" charset="0"/>
                <a:ea typeface="Calibri" pitchFamily="34" charset="-122"/>
                <a:cs typeface="Calibri" pitchFamily="34" charset="-120"/>
              </a:rPr>
              <a:t>Plain-language, confidence-graded insights — no generic advice, just your own patterns.</a:t>
            </a:r>
            <a:endParaRPr lang="en-US" sz="1300" dirty="0"/>
          </a:p>
        </p:txBody>
      </p:sp>
      <p:sp>
        <p:nvSpPr>
          <p:cNvPr id="18" name="Shape 16"/>
          <p:cNvSpPr/>
          <p:nvPr/>
        </p:nvSpPr>
        <p:spPr>
          <a:xfrm>
            <a:off x="822960" y="4937760"/>
            <a:ext cx="10515600" cy="1234440"/>
          </a:xfrm>
          <a:prstGeom prst="roundRect">
            <a:avLst>
              <a:gd name="adj" fmla="val 7407"/>
            </a:avLst>
          </a:prstGeom>
          <a:solidFill>
            <a:srgbClr val="0B3D3F"/>
          </a:solidFill>
          <a:ln/>
        </p:spPr>
      </p:sp>
      <p:sp>
        <p:nvSpPr>
          <p:cNvPr id="19" name="Text 17"/>
          <p:cNvSpPr/>
          <p:nvPr/>
        </p:nvSpPr>
        <p:spPr>
          <a:xfrm>
            <a:off x="1143000" y="5074920"/>
            <a:ext cx="9875520" cy="960120"/>
          </a:xfrm>
          <a:prstGeom prst="rect">
            <a:avLst/>
          </a:prstGeom>
          <a:noFill/>
          <a:ln/>
        </p:spPr>
        <p:txBody>
          <a:bodyPr wrap="square" rtlCol="0" anchor="ctr"/>
          <a:lstStyle/>
          <a:p>
            <a:pPr indent="0" marL="0">
              <a:buNone/>
            </a:pPr>
            <a:r>
              <a:rPr lang="en-US" sz="2200" b="1" dirty="0">
                <a:solidFill>
                  <a:srgbClr val="02C39A"/>
                </a:solidFill>
              </a:rPr>
              <a:t>“</a:t>
            </a:r>
            <a:pPr indent="0" marL="0">
              <a:buNone/>
            </a:pPr>
            <a:r>
              <a:rPr lang="en-US" sz="1600" i="1" dirty="0">
                <a:solidFill>
                  <a:srgbClr val="FFFFFF"/>
                </a:solidFill>
              </a:rPr>
              <a:t>You feel 40% more energetic on days you sleep 7+ hours </a:t>
            </a:r>
            <a:pPr indent="0" marL="0">
              <a:buNone/>
            </a:pPr>
            <a:r>
              <a:rPr lang="en-US" sz="1200" dirty="0">
                <a:solidFill>
                  <a:srgbClr val="9FC9C6"/>
                </a:solidFill>
              </a:rPr>
              <a:t>— Confirmed Pattern, 18 days logged</a:t>
            </a:r>
            <a:endParaRPr lang="en-US" sz="2200" dirty="0"/>
          </a:p>
        </p:txBody>
      </p:sp>
      <p:sp>
        <p:nvSpPr>
          <p:cNvPr id="20" name="Text 18"/>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21" name="Text 19"/>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KEY FEATURES</a:t>
            </a:r>
            <a:endParaRPr lang="en-US" sz="1300" dirty="0"/>
          </a:p>
        </p:txBody>
      </p:sp>
      <p:sp>
        <p:nvSpPr>
          <p:cNvPr id="3" name="Text 1"/>
          <p:cNvSpPr/>
          <p:nvPr/>
        </p:nvSpPr>
        <p:spPr>
          <a:xfrm>
            <a:off x="640080" y="822960"/>
            <a:ext cx="8229600" cy="822960"/>
          </a:xfrm>
          <a:prstGeom prst="rect">
            <a:avLst/>
          </a:prstGeom>
          <a:noFill/>
          <a:ln/>
        </p:spPr>
        <p:txBody>
          <a:bodyPr wrap="square" rtlCol="0" anchor="ctr"/>
          <a:lstStyle/>
          <a:p>
            <a:pPr indent="0" marL="0">
              <a:buNone/>
            </a:pPr>
            <a:r>
              <a:rPr lang="en-US" sz="3200" b="1" dirty="0">
                <a:solidFill>
                  <a:srgbClr val="1A2E2E"/>
                </a:solidFill>
                <a:latin typeface="Cambria" pitchFamily="34" charset="0"/>
                <a:ea typeface="Cambria" pitchFamily="34" charset="-122"/>
                <a:cs typeface="Cambria" pitchFamily="34" charset="-120"/>
              </a:rPr>
              <a:t>Everything v1.0 delivers.</a:t>
            </a:r>
            <a:endParaRPr lang="en-US" sz="3200" dirty="0"/>
          </a:p>
        </p:txBody>
      </p:sp>
      <p:sp>
        <p:nvSpPr>
          <p:cNvPr id="4" name="Shape 2"/>
          <p:cNvSpPr/>
          <p:nvPr/>
        </p:nvSpPr>
        <p:spPr>
          <a:xfrm>
            <a:off x="640080" y="1965960"/>
            <a:ext cx="3520440" cy="1737360"/>
          </a:xfrm>
          <a:prstGeom prst="roundRect">
            <a:avLst>
              <a:gd name="adj" fmla="val 5263"/>
            </a:avLst>
          </a:prstGeom>
          <a:solidFill>
            <a:srgbClr val="F7FBFA"/>
          </a:solidFill>
          <a:ln w="12700">
            <a:solidFill>
              <a:srgbClr val="DCEAE8"/>
            </a:solidFill>
            <a:prstDash val="solid"/>
          </a:ln>
        </p:spPr>
      </p:sp>
      <p:sp>
        <p:nvSpPr>
          <p:cNvPr id="5" name="Shape 3"/>
          <p:cNvSpPr/>
          <p:nvPr/>
        </p:nvSpPr>
        <p:spPr>
          <a:xfrm>
            <a:off x="868680" y="2194560"/>
            <a:ext cx="384048" cy="384048"/>
          </a:xfrm>
          <a:prstGeom prst="ellipse">
            <a:avLst/>
          </a:prstGeom>
          <a:solidFill>
            <a:srgbClr val="00A896"/>
          </a:solidFill>
          <a:ln/>
        </p:spPr>
      </p:sp>
      <p:sp>
        <p:nvSpPr>
          <p:cNvPr id="6" name="Text 4"/>
          <p:cNvSpPr/>
          <p:nvPr/>
        </p:nvSpPr>
        <p:spPr>
          <a:xfrm>
            <a:off x="868680" y="219456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68680" y="267919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Simple secure accounts</a:t>
            </a:r>
            <a:endParaRPr lang="en-US" sz="1450" dirty="0"/>
          </a:p>
        </p:txBody>
      </p:sp>
      <p:sp>
        <p:nvSpPr>
          <p:cNvPr id="8" name="Text 6"/>
          <p:cNvSpPr/>
          <p:nvPr/>
        </p:nvSpPr>
        <p:spPr>
          <a:xfrm>
            <a:off x="868680" y="304495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Username/password signup &amp; login, no unnecessary friction.</a:t>
            </a:r>
            <a:endParaRPr lang="en-US" sz="1150" dirty="0"/>
          </a:p>
        </p:txBody>
      </p:sp>
      <p:sp>
        <p:nvSpPr>
          <p:cNvPr id="9" name="Shape 7"/>
          <p:cNvSpPr/>
          <p:nvPr/>
        </p:nvSpPr>
        <p:spPr>
          <a:xfrm>
            <a:off x="4434840" y="1965960"/>
            <a:ext cx="3520440" cy="1737360"/>
          </a:xfrm>
          <a:prstGeom prst="roundRect">
            <a:avLst>
              <a:gd name="adj" fmla="val 5263"/>
            </a:avLst>
          </a:prstGeom>
          <a:solidFill>
            <a:srgbClr val="F7FBFA"/>
          </a:solidFill>
          <a:ln w="12700">
            <a:solidFill>
              <a:srgbClr val="DCEAE8"/>
            </a:solidFill>
            <a:prstDash val="solid"/>
          </a:ln>
        </p:spPr>
      </p:sp>
      <p:sp>
        <p:nvSpPr>
          <p:cNvPr id="10" name="Shape 8"/>
          <p:cNvSpPr/>
          <p:nvPr/>
        </p:nvSpPr>
        <p:spPr>
          <a:xfrm>
            <a:off x="4663440" y="2194560"/>
            <a:ext cx="384048" cy="384048"/>
          </a:xfrm>
          <a:prstGeom prst="ellipse">
            <a:avLst/>
          </a:prstGeom>
          <a:solidFill>
            <a:srgbClr val="00A896"/>
          </a:solidFill>
          <a:ln/>
        </p:spPr>
      </p:sp>
      <p:sp>
        <p:nvSpPr>
          <p:cNvPr id="11" name="Text 9"/>
          <p:cNvSpPr/>
          <p:nvPr/>
        </p:nvSpPr>
        <p:spPr>
          <a:xfrm>
            <a:off x="4663440" y="219456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4663440" y="267919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60-second daily check-in</a:t>
            </a:r>
            <a:endParaRPr lang="en-US" sz="1450" dirty="0"/>
          </a:p>
        </p:txBody>
      </p:sp>
      <p:sp>
        <p:nvSpPr>
          <p:cNvPr id="13" name="Text 11"/>
          <p:cNvSpPr/>
          <p:nvPr/>
        </p:nvSpPr>
        <p:spPr>
          <a:xfrm>
            <a:off x="4663440" y="304495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Sleep, workout, water, screen time + energy, mood, stress, soreness.</a:t>
            </a:r>
            <a:endParaRPr lang="en-US" sz="1150" dirty="0"/>
          </a:p>
        </p:txBody>
      </p:sp>
      <p:sp>
        <p:nvSpPr>
          <p:cNvPr id="14" name="Shape 12"/>
          <p:cNvSpPr/>
          <p:nvPr/>
        </p:nvSpPr>
        <p:spPr>
          <a:xfrm>
            <a:off x="8229600" y="1965960"/>
            <a:ext cx="3520440" cy="1737360"/>
          </a:xfrm>
          <a:prstGeom prst="roundRect">
            <a:avLst>
              <a:gd name="adj" fmla="val 5263"/>
            </a:avLst>
          </a:prstGeom>
          <a:solidFill>
            <a:srgbClr val="F7FBFA"/>
          </a:solidFill>
          <a:ln w="12700">
            <a:solidFill>
              <a:srgbClr val="DCEAE8"/>
            </a:solidFill>
            <a:prstDash val="solid"/>
          </a:ln>
        </p:spPr>
      </p:sp>
      <p:sp>
        <p:nvSpPr>
          <p:cNvPr id="15" name="Shape 13"/>
          <p:cNvSpPr/>
          <p:nvPr/>
        </p:nvSpPr>
        <p:spPr>
          <a:xfrm>
            <a:off x="8458200" y="2194560"/>
            <a:ext cx="384048" cy="384048"/>
          </a:xfrm>
          <a:prstGeom prst="ellipse">
            <a:avLst/>
          </a:prstGeom>
          <a:solidFill>
            <a:srgbClr val="00A896"/>
          </a:solidFill>
          <a:ln/>
        </p:spPr>
      </p:sp>
      <p:sp>
        <p:nvSpPr>
          <p:cNvPr id="16" name="Text 14"/>
          <p:cNvSpPr/>
          <p:nvPr/>
        </p:nvSpPr>
        <p:spPr>
          <a:xfrm>
            <a:off x="8458200" y="219456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458200" y="267919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Original insight engine</a:t>
            </a:r>
            <a:endParaRPr lang="en-US" sz="1450" dirty="0"/>
          </a:p>
        </p:txBody>
      </p:sp>
      <p:sp>
        <p:nvSpPr>
          <p:cNvPr id="18" name="Text 16"/>
          <p:cNvSpPr/>
          <p:nvPr/>
        </p:nvSpPr>
        <p:spPr>
          <a:xfrm>
            <a:off x="8458200" y="304495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Statistical correlation analysis — no external AI API required.</a:t>
            </a:r>
            <a:endParaRPr lang="en-US" sz="1150" dirty="0"/>
          </a:p>
        </p:txBody>
      </p:sp>
      <p:sp>
        <p:nvSpPr>
          <p:cNvPr id="19" name="Shape 17"/>
          <p:cNvSpPr/>
          <p:nvPr/>
        </p:nvSpPr>
        <p:spPr>
          <a:xfrm>
            <a:off x="640080" y="3977640"/>
            <a:ext cx="3520440" cy="1737360"/>
          </a:xfrm>
          <a:prstGeom prst="roundRect">
            <a:avLst>
              <a:gd name="adj" fmla="val 5263"/>
            </a:avLst>
          </a:prstGeom>
          <a:solidFill>
            <a:srgbClr val="F7FBFA"/>
          </a:solidFill>
          <a:ln w="12700">
            <a:solidFill>
              <a:srgbClr val="DCEAE8"/>
            </a:solidFill>
            <a:prstDash val="solid"/>
          </a:ln>
        </p:spPr>
      </p:sp>
      <p:sp>
        <p:nvSpPr>
          <p:cNvPr id="20" name="Shape 18"/>
          <p:cNvSpPr/>
          <p:nvPr/>
        </p:nvSpPr>
        <p:spPr>
          <a:xfrm>
            <a:off x="868680" y="4206240"/>
            <a:ext cx="384048" cy="384048"/>
          </a:xfrm>
          <a:prstGeom prst="ellipse">
            <a:avLst/>
          </a:prstGeom>
          <a:solidFill>
            <a:srgbClr val="00A896"/>
          </a:solidFill>
          <a:ln/>
        </p:spPr>
      </p:sp>
      <p:sp>
        <p:nvSpPr>
          <p:cNvPr id="21" name="Text 19"/>
          <p:cNvSpPr/>
          <p:nvPr/>
        </p:nvSpPr>
        <p:spPr>
          <a:xfrm>
            <a:off x="868680" y="42062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68680" y="469087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Confidence-graded insights</a:t>
            </a:r>
            <a:endParaRPr lang="en-US" sz="1450" dirty="0"/>
          </a:p>
        </p:txBody>
      </p:sp>
      <p:sp>
        <p:nvSpPr>
          <p:cNvPr id="23" name="Text 21"/>
          <p:cNvSpPr/>
          <p:nvPr/>
        </p:nvSpPr>
        <p:spPr>
          <a:xfrm>
            <a:off x="868680" y="505663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Early Pattern vs. Confirmed Pattern, ranked by strength.</a:t>
            </a:r>
            <a:endParaRPr lang="en-US" sz="1150" dirty="0"/>
          </a:p>
        </p:txBody>
      </p:sp>
      <p:sp>
        <p:nvSpPr>
          <p:cNvPr id="24" name="Shape 22"/>
          <p:cNvSpPr/>
          <p:nvPr/>
        </p:nvSpPr>
        <p:spPr>
          <a:xfrm>
            <a:off x="4434840" y="3977640"/>
            <a:ext cx="3520440" cy="1737360"/>
          </a:xfrm>
          <a:prstGeom prst="roundRect">
            <a:avLst>
              <a:gd name="adj" fmla="val 5263"/>
            </a:avLst>
          </a:prstGeom>
          <a:solidFill>
            <a:srgbClr val="F7FBFA"/>
          </a:solidFill>
          <a:ln w="12700">
            <a:solidFill>
              <a:srgbClr val="DCEAE8"/>
            </a:solidFill>
            <a:prstDash val="solid"/>
          </a:ln>
        </p:spPr>
      </p:sp>
      <p:sp>
        <p:nvSpPr>
          <p:cNvPr id="25" name="Shape 23"/>
          <p:cNvSpPr/>
          <p:nvPr/>
        </p:nvSpPr>
        <p:spPr>
          <a:xfrm>
            <a:off x="4663440" y="4206240"/>
            <a:ext cx="384048" cy="384048"/>
          </a:xfrm>
          <a:prstGeom prst="ellipse">
            <a:avLst/>
          </a:prstGeom>
          <a:solidFill>
            <a:srgbClr val="00A896"/>
          </a:solidFill>
          <a:ln/>
        </p:spPr>
      </p:sp>
      <p:sp>
        <p:nvSpPr>
          <p:cNvPr id="26" name="Text 24"/>
          <p:cNvSpPr/>
          <p:nvPr/>
        </p:nvSpPr>
        <p:spPr>
          <a:xfrm>
            <a:off x="4663440" y="42062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4663440" y="469087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Interactive dashboard</a:t>
            </a:r>
            <a:endParaRPr lang="en-US" sz="1450" dirty="0"/>
          </a:p>
        </p:txBody>
      </p:sp>
      <p:sp>
        <p:nvSpPr>
          <p:cNvPr id="28" name="Text 26"/>
          <p:cNvSpPr/>
          <p:nvPr/>
        </p:nvSpPr>
        <p:spPr>
          <a:xfrm>
            <a:off x="4663440" y="505663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Trend charts, correlation charts, and date-range filtering.</a:t>
            </a:r>
            <a:endParaRPr lang="en-US" sz="1150" dirty="0"/>
          </a:p>
        </p:txBody>
      </p:sp>
      <p:sp>
        <p:nvSpPr>
          <p:cNvPr id="29" name="Shape 27"/>
          <p:cNvSpPr/>
          <p:nvPr/>
        </p:nvSpPr>
        <p:spPr>
          <a:xfrm>
            <a:off x="8229600" y="3977640"/>
            <a:ext cx="3520440" cy="1737360"/>
          </a:xfrm>
          <a:prstGeom prst="roundRect">
            <a:avLst>
              <a:gd name="adj" fmla="val 5263"/>
            </a:avLst>
          </a:prstGeom>
          <a:solidFill>
            <a:srgbClr val="F7FBFA"/>
          </a:solidFill>
          <a:ln w="12700">
            <a:solidFill>
              <a:srgbClr val="DCEAE8"/>
            </a:solidFill>
            <a:prstDash val="solid"/>
          </a:ln>
        </p:spPr>
      </p:sp>
      <p:sp>
        <p:nvSpPr>
          <p:cNvPr id="30" name="Shape 28"/>
          <p:cNvSpPr/>
          <p:nvPr/>
        </p:nvSpPr>
        <p:spPr>
          <a:xfrm>
            <a:off x="8458200" y="4206240"/>
            <a:ext cx="384048" cy="384048"/>
          </a:xfrm>
          <a:prstGeom prst="ellipse">
            <a:avLst/>
          </a:prstGeom>
          <a:solidFill>
            <a:srgbClr val="00A896"/>
          </a:solidFill>
          <a:ln/>
        </p:spPr>
      </p:sp>
      <p:sp>
        <p:nvSpPr>
          <p:cNvPr id="31" name="Text 29"/>
          <p:cNvSpPr/>
          <p:nvPr/>
        </p:nvSpPr>
        <p:spPr>
          <a:xfrm>
            <a:off x="8458200" y="42062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8458200" y="4690872"/>
            <a:ext cx="3063240" cy="365760"/>
          </a:xfrm>
          <a:prstGeom prst="rect">
            <a:avLst/>
          </a:prstGeom>
          <a:noFill/>
          <a:ln/>
        </p:spPr>
        <p:txBody>
          <a:bodyPr wrap="square" rtlCol="0" anchor="ctr"/>
          <a:lstStyle/>
          <a:p>
            <a:pPr indent="0" marL="0">
              <a:buNone/>
            </a:pPr>
            <a:r>
              <a:rPr lang="en-US" sz="1450" b="1" dirty="0">
                <a:solidFill>
                  <a:srgbClr val="1A2E2E"/>
                </a:solidFill>
                <a:latin typeface="Calibri" pitchFamily="34" charset="0"/>
                <a:ea typeface="Calibri" pitchFamily="34" charset="-122"/>
                <a:cs typeface="Calibri" pitchFamily="34" charset="-120"/>
              </a:rPr>
              <a:t>Guaranteed great demo</a:t>
            </a:r>
            <a:endParaRPr lang="en-US" sz="1450" dirty="0"/>
          </a:p>
        </p:txBody>
      </p:sp>
      <p:sp>
        <p:nvSpPr>
          <p:cNvPr id="33" name="Text 31"/>
          <p:cNvSpPr/>
          <p:nvPr/>
        </p:nvSpPr>
        <p:spPr>
          <a:xfrm>
            <a:off x="8458200" y="5056632"/>
            <a:ext cx="3063240" cy="594360"/>
          </a:xfrm>
          <a:prstGeom prst="rect">
            <a:avLst/>
          </a:prstGeom>
          <a:noFill/>
          <a:ln/>
        </p:spPr>
        <p:txBody>
          <a:bodyPr wrap="square" rtlCol="0" anchor="ctr"/>
          <a:lstStyle/>
          <a:p>
            <a:pPr indent="0" marL="0">
              <a:buNone/>
            </a:pPr>
            <a:r>
              <a:rPr lang="en-US" sz="1150" dirty="0">
                <a:solidFill>
                  <a:srgbClr val="5A6E6E"/>
                </a:solidFill>
                <a:latin typeface="Calibri" pitchFamily="34" charset="0"/>
                <a:ea typeface="Calibri" pitchFamily="34" charset="-122"/>
                <a:cs typeface="Calibri" pitchFamily="34" charset="-120"/>
              </a:rPr>
              <a:t>One-click seed data ensures rich insights anytime, anywhere.</a:t>
            </a:r>
            <a:endParaRPr lang="en-US" sz="1150" dirty="0"/>
          </a:p>
        </p:txBody>
      </p:sp>
      <p:sp>
        <p:nvSpPr>
          <p:cNvPr id="34" name="Text 32"/>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35" name="Text 33"/>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3F"/>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TECHNICAL APPROACH</a:t>
            </a:r>
            <a:endParaRPr lang="en-US" sz="1300" dirty="0"/>
          </a:p>
        </p:txBody>
      </p:sp>
      <p:sp>
        <p:nvSpPr>
          <p:cNvPr id="3" name="Text 1"/>
          <p:cNvSpPr/>
          <p:nvPr/>
        </p:nvSpPr>
        <p:spPr>
          <a:xfrm>
            <a:off x="640080" y="822960"/>
            <a:ext cx="100584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Lean, self-built, no external AI dependency.</a:t>
            </a:r>
            <a:endParaRPr lang="en-US" sz="3000" dirty="0"/>
          </a:p>
        </p:txBody>
      </p:sp>
      <p:sp>
        <p:nvSpPr>
          <p:cNvPr id="4" name="Shape 2"/>
          <p:cNvSpPr/>
          <p:nvPr/>
        </p:nvSpPr>
        <p:spPr>
          <a:xfrm>
            <a:off x="640080" y="1965960"/>
            <a:ext cx="3383280" cy="1051560"/>
          </a:xfrm>
          <a:prstGeom prst="roundRect">
            <a:avLst>
              <a:gd name="adj" fmla="val 7826"/>
            </a:avLst>
          </a:prstGeom>
          <a:solidFill>
            <a:srgbClr val="0F4C4E"/>
          </a:solidFill>
          <a:ln/>
        </p:spPr>
      </p:sp>
      <p:sp>
        <p:nvSpPr>
          <p:cNvPr id="5" name="Text 3"/>
          <p:cNvSpPr/>
          <p:nvPr/>
        </p:nvSpPr>
        <p:spPr>
          <a:xfrm>
            <a:off x="868680" y="207568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Backend</a:t>
            </a:r>
            <a:endParaRPr lang="en-US" sz="1200" dirty="0"/>
          </a:p>
        </p:txBody>
      </p:sp>
      <p:sp>
        <p:nvSpPr>
          <p:cNvPr id="6" name="Text 4"/>
          <p:cNvSpPr/>
          <p:nvPr/>
        </p:nvSpPr>
        <p:spPr>
          <a:xfrm>
            <a:off x="868680" y="240487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Python + Flask</a:t>
            </a:r>
            <a:endParaRPr lang="en-US" sz="1500" dirty="0"/>
          </a:p>
        </p:txBody>
      </p:sp>
      <p:sp>
        <p:nvSpPr>
          <p:cNvPr id="7" name="Shape 5"/>
          <p:cNvSpPr/>
          <p:nvPr/>
        </p:nvSpPr>
        <p:spPr>
          <a:xfrm>
            <a:off x="4297680" y="1965960"/>
            <a:ext cx="3383280" cy="1051560"/>
          </a:xfrm>
          <a:prstGeom prst="roundRect">
            <a:avLst>
              <a:gd name="adj" fmla="val 7826"/>
            </a:avLst>
          </a:prstGeom>
          <a:solidFill>
            <a:srgbClr val="0F4C4E"/>
          </a:solidFill>
          <a:ln/>
        </p:spPr>
      </p:sp>
      <p:sp>
        <p:nvSpPr>
          <p:cNvPr id="8" name="Text 6"/>
          <p:cNvSpPr/>
          <p:nvPr/>
        </p:nvSpPr>
        <p:spPr>
          <a:xfrm>
            <a:off x="4526280" y="207568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Database</a:t>
            </a:r>
            <a:endParaRPr lang="en-US" sz="1200" dirty="0"/>
          </a:p>
        </p:txBody>
      </p:sp>
      <p:sp>
        <p:nvSpPr>
          <p:cNvPr id="9" name="Text 7"/>
          <p:cNvSpPr/>
          <p:nvPr/>
        </p:nvSpPr>
        <p:spPr>
          <a:xfrm>
            <a:off x="4526280" y="240487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SQLite</a:t>
            </a:r>
            <a:endParaRPr lang="en-US" sz="1500" dirty="0"/>
          </a:p>
        </p:txBody>
      </p:sp>
      <p:sp>
        <p:nvSpPr>
          <p:cNvPr id="10" name="Shape 8"/>
          <p:cNvSpPr/>
          <p:nvPr/>
        </p:nvSpPr>
        <p:spPr>
          <a:xfrm>
            <a:off x="7955280" y="1965960"/>
            <a:ext cx="3383280" cy="1051560"/>
          </a:xfrm>
          <a:prstGeom prst="roundRect">
            <a:avLst>
              <a:gd name="adj" fmla="val 7826"/>
            </a:avLst>
          </a:prstGeom>
          <a:solidFill>
            <a:srgbClr val="0F4C4E"/>
          </a:solidFill>
          <a:ln/>
        </p:spPr>
      </p:sp>
      <p:sp>
        <p:nvSpPr>
          <p:cNvPr id="11" name="Text 9"/>
          <p:cNvSpPr/>
          <p:nvPr/>
        </p:nvSpPr>
        <p:spPr>
          <a:xfrm>
            <a:off x="8183880" y="207568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Frontend</a:t>
            </a:r>
            <a:endParaRPr lang="en-US" sz="1200" dirty="0"/>
          </a:p>
        </p:txBody>
      </p:sp>
      <p:sp>
        <p:nvSpPr>
          <p:cNvPr id="12" name="Text 10"/>
          <p:cNvSpPr/>
          <p:nvPr/>
        </p:nvSpPr>
        <p:spPr>
          <a:xfrm>
            <a:off x="8183880" y="240487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Jinja2 templates + vanilla JS</a:t>
            </a:r>
            <a:endParaRPr lang="en-US" sz="1500" dirty="0"/>
          </a:p>
        </p:txBody>
      </p:sp>
      <p:sp>
        <p:nvSpPr>
          <p:cNvPr id="13" name="Shape 11"/>
          <p:cNvSpPr/>
          <p:nvPr/>
        </p:nvSpPr>
        <p:spPr>
          <a:xfrm>
            <a:off x="640080" y="3246120"/>
            <a:ext cx="3383280" cy="1051560"/>
          </a:xfrm>
          <a:prstGeom prst="roundRect">
            <a:avLst>
              <a:gd name="adj" fmla="val 7826"/>
            </a:avLst>
          </a:prstGeom>
          <a:solidFill>
            <a:srgbClr val="0F4C4E"/>
          </a:solidFill>
          <a:ln/>
        </p:spPr>
      </p:sp>
      <p:sp>
        <p:nvSpPr>
          <p:cNvPr id="14" name="Text 12"/>
          <p:cNvSpPr/>
          <p:nvPr/>
        </p:nvSpPr>
        <p:spPr>
          <a:xfrm>
            <a:off x="868680" y="335584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Charts</a:t>
            </a:r>
            <a:endParaRPr lang="en-US" sz="1200" dirty="0"/>
          </a:p>
        </p:txBody>
      </p:sp>
      <p:sp>
        <p:nvSpPr>
          <p:cNvPr id="15" name="Text 13"/>
          <p:cNvSpPr/>
          <p:nvPr/>
        </p:nvSpPr>
        <p:spPr>
          <a:xfrm>
            <a:off x="868680" y="368503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Chart.js</a:t>
            </a:r>
            <a:endParaRPr lang="en-US" sz="1500" dirty="0"/>
          </a:p>
        </p:txBody>
      </p:sp>
      <p:sp>
        <p:nvSpPr>
          <p:cNvPr id="16" name="Shape 14"/>
          <p:cNvSpPr/>
          <p:nvPr/>
        </p:nvSpPr>
        <p:spPr>
          <a:xfrm>
            <a:off x="4297680" y="3246120"/>
            <a:ext cx="3383280" cy="1051560"/>
          </a:xfrm>
          <a:prstGeom prst="roundRect">
            <a:avLst>
              <a:gd name="adj" fmla="val 7826"/>
            </a:avLst>
          </a:prstGeom>
          <a:solidFill>
            <a:srgbClr val="0F4C4E"/>
          </a:solidFill>
          <a:ln/>
        </p:spPr>
      </p:sp>
      <p:sp>
        <p:nvSpPr>
          <p:cNvPr id="17" name="Text 15"/>
          <p:cNvSpPr/>
          <p:nvPr/>
        </p:nvSpPr>
        <p:spPr>
          <a:xfrm>
            <a:off x="4526280" y="335584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Auth</a:t>
            </a:r>
            <a:endParaRPr lang="en-US" sz="1200" dirty="0"/>
          </a:p>
        </p:txBody>
      </p:sp>
      <p:sp>
        <p:nvSpPr>
          <p:cNvPr id="18" name="Text 16"/>
          <p:cNvSpPr/>
          <p:nvPr/>
        </p:nvSpPr>
        <p:spPr>
          <a:xfrm>
            <a:off x="4526280" y="368503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Flask sessions + hashed passwords</a:t>
            </a:r>
            <a:endParaRPr lang="en-US" sz="1500" dirty="0"/>
          </a:p>
        </p:txBody>
      </p:sp>
      <p:sp>
        <p:nvSpPr>
          <p:cNvPr id="19" name="Shape 17"/>
          <p:cNvSpPr/>
          <p:nvPr/>
        </p:nvSpPr>
        <p:spPr>
          <a:xfrm>
            <a:off x="7955280" y="3246120"/>
            <a:ext cx="3383280" cy="1051560"/>
          </a:xfrm>
          <a:prstGeom prst="roundRect">
            <a:avLst>
              <a:gd name="adj" fmla="val 7826"/>
            </a:avLst>
          </a:prstGeom>
          <a:solidFill>
            <a:srgbClr val="0F4C4E"/>
          </a:solidFill>
          <a:ln/>
        </p:spPr>
      </p:sp>
      <p:sp>
        <p:nvSpPr>
          <p:cNvPr id="20" name="Text 18"/>
          <p:cNvSpPr/>
          <p:nvPr/>
        </p:nvSpPr>
        <p:spPr>
          <a:xfrm>
            <a:off x="8183880" y="3355848"/>
            <a:ext cx="2926080" cy="320040"/>
          </a:xfrm>
          <a:prstGeom prst="rect">
            <a:avLst/>
          </a:prstGeom>
          <a:noFill/>
          <a:ln/>
        </p:spPr>
        <p:txBody>
          <a:bodyPr wrap="square" rtlCol="0" anchor="ctr"/>
          <a:lstStyle/>
          <a:p>
            <a:pPr indent="0" marL="0">
              <a:buNone/>
            </a:pPr>
            <a:r>
              <a:rPr lang="en-US" sz="1200" b="1" spc="100" kern="0" dirty="0">
                <a:solidFill>
                  <a:srgbClr val="02C39A"/>
                </a:solidFill>
                <a:latin typeface="Calibri" pitchFamily="34" charset="0"/>
                <a:ea typeface="Calibri" pitchFamily="34" charset="-122"/>
                <a:cs typeface="Calibri" pitchFamily="34" charset="-120"/>
              </a:rPr>
              <a:t>Hosting</a:t>
            </a:r>
            <a:endParaRPr lang="en-US" sz="1200" dirty="0"/>
          </a:p>
        </p:txBody>
      </p:sp>
      <p:sp>
        <p:nvSpPr>
          <p:cNvPr id="21" name="Text 19"/>
          <p:cNvSpPr/>
          <p:nvPr/>
        </p:nvSpPr>
        <p:spPr>
          <a:xfrm>
            <a:off x="8183880" y="3685032"/>
            <a:ext cx="29260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Free-tier cloud deployment</a:t>
            </a:r>
            <a:endParaRPr lang="en-US" sz="1500" dirty="0"/>
          </a:p>
        </p:txBody>
      </p:sp>
      <p:sp>
        <p:nvSpPr>
          <p:cNvPr id="22" name="Text 20"/>
          <p:cNvSpPr/>
          <p:nvPr/>
        </p:nvSpPr>
        <p:spPr>
          <a:xfrm>
            <a:off x="640080" y="5074920"/>
            <a:ext cx="4572000" cy="365760"/>
          </a:xfrm>
          <a:prstGeom prst="rect">
            <a:avLst/>
          </a:prstGeom>
          <a:noFill/>
          <a:ln/>
        </p:spPr>
        <p:txBody>
          <a:bodyPr wrap="square"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Why no external LLM API?</a:t>
            </a:r>
            <a:endParaRPr lang="en-US" sz="1400" dirty="0"/>
          </a:p>
        </p:txBody>
      </p:sp>
      <p:sp>
        <p:nvSpPr>
          <p:cNvPr id="23" name="Text 21"/>
          <p:cNvSpPr/>
          <p:nvPr/>
        </p:nvSpPr>
        <p:spPr>
          <a:xfrm>
            <a:off x="640080" y="5486400"/>
            <a:ext cx="10607040" cy="822960"/>
          </a:xfrm>
          <a:prstGeom prst="rect">
            <a:avLst/>
          </a:prstGeom>
          <a:noFill/>
          <a:ln/>
        </p:spPr>
        <p:txBody>
          <a:bodyPr wrap="square" rtlCol="0" anchor="ctr"/>
          <a:lstStyle/>
          <a:p>
            <a:pPr indent="0" marL="0">
              <a:buNone/>
            </a:pPr>
            <a:r>
              <a:rPr lang="en-US" sz="1300" dirty="0">
                <a:solidFill>
                  <a:srgbClr val="CFE9E7"/>
                </a:solidFill>
                <a:latin typeface="Calibri" pitchFamily="34" charset="0"/>
                <a:ea typeface="Calibri" pitchFamily="34" charset="-122"/>
                <a:cs typeface="Calibri" pitchFamily="34" charset="-120"/>
              </a:rPr>
              <a:t>The insight engine uses original statistical methods (group comparison, percentage effect size, confidence-by-sample-size) — a differentiated engineering showcase, not an API wrapper. Zero cost, zero rate limits, fully explainable.</a:t>
            </a:r>
            <a:endParaRPr lang="en-US" sz="1300" dirty="0"/>
          </a:p>
        </p:txBody>
      </p:sp>
      <p:sp>
        <p:nvSpPr>
          <p:cNvPr id="24" name="Text 22"/>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CFE9E7"/>
                </a:solidFill>
                <a:latin typeface="Calibri" pitchFamily="34" charset="0"/>
                <a:ea typeface="Calibri" pitchFamily="34" charset="-122"/>
                <a:cs typeface="Calibri" pitchFamily="34" charset="-120"/>
              </a:rPr>
              <a:t>WhyIFeel</a:t>
            </a:r>
            <a:endParaRPr lang="en-US" sz="1000" dirty="0"/>
          </a:p>
        </p:txBody>
      </p:sp>
      <p:sp>
        <p:nvSpPr>
          <p:cNvPr id="25" name="Text 23"/>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CFE9E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A"/>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SEE IT IN ACTION</a:t>
            </a:r>
            <a:endParaRPr lang="en-US" sz="1300" dirty="0"/>
          </a:p>
        </p:txBody>
      </p:sp>
      <p:sp>
        <p:nvSpPr>
          <p:cNvPr id="3" name="Text 1"/>
          <p:cNvSpPr/>
          <p:nvPr/>
        </p:nvSpPr>
        <p:spPr>
          <a:xfrm>
            <a:off x="640080" y="822960"/>
            <a:ext cx="10058400" cy="822960"/>
          </a:xfrm>
          <a:prstGeom prst="rect">
            <a:avLst/>
          </a:prstGeom>
          <a:noFill/>
          <a:ln/>
        </p:spPr>
        <p:txBody>
          <a:bodyPr wrap="square" rtlCol="0" anchor="ctr"/>
          <a:lstStyle/>
          <a:p>
            <a:pPr indent="0" marL="0">
              <a:buNone/>
            </a:pPr>
            <a:r>
              <a:rPr lang="en-US" sz="3000" b="1" dirty="0">
                <a:solidFill>
                  <a:srgbClr val="1A2E2E"/>
                </a:solidFill>
                <a:latin typeface="Cambria" pitchFamily="34" charset="0"/>
                <a:ea typeface="Cambria" pitchFamily="34" charset="-122"/>
                <a:cs typeface="Cambria" pitchFamily="34" charset="-120"/>
              </a:rPr>
              <a:t>From raw check-ins to a genuine “aha.”</a:t>
            </a:r>
            <a:endParaRPr lang="en-US" sz="3000" dirty="0"/>
          </a:p>
        </p:txBody>
      </p:sp>
      <p:graphicFrame>
        <p:nvGraphicFramePr>
          <p:cNvPr id="4" name="Chart 0" descr=""/>
          <p:cNvGraphicFramePr/>
          <p:nvPr/>
        </p:nvGraphicFramePr>
        <p:xfrm>
          <a:off x="640080" y="19202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263640" y="1920240"/>
            <a:ext cx="5257800" cy="1051560"/>
          </a:xfrm>
          <a:prstGeom prst="roundRect">
            <a:avLst>
              <a:gd name="adj" fmla="val 7826"/>
            </a:avLst>
          </a:prstGeom>
          <a:solidFill>
            <a:srgbClr val="FFFFFF"/>
          </a:solidFill>
          <a:ln w="12700">
            <a:solidFill>
              <a:srgbClr val="DCEAE8"/>
            </a:solidFill>
            <a:prstDash val="solid"/>
          </a:ln>
        </p:spPr>
      </p:sp>
      <p:sp>
        <p:nvSpPr>
          <p:cNvPr id="6" name="Shape 3"/>
          <p:cNvSpPr/>
          <p:nvPr/>
        </p:nvSpPr>
        <p:spPr>
          <a:xfrm>
            <a:off x="6492240" y="2084832"/>
            <a:ext cx="1554480" cy="292608"/>
          </a:xfrm>
          <a:prstGeom prst="roundRect">
            <a:avLst>
              <a:gd name="adj" fmla="val 50000"/>
            </a:avLst>
          </a:prstGeom>
          <a:solidFill>
            <a:srgbClr val="00A896"/>
          </a:solidFill>
          <a:ln/>
        </p:spPr>
      </p:sp>
      <p:sp>
        <p:nvSpPr>
          <p:cNvPr id="7" name="Text 4"/>
          <p:cNvSpPr/>
          <p:nvPr/>
        </p:nvSpPr>
        <p:spPr>
          <a:xfrm>
            <a:off x="6492240" y="2084832"/>
            <a:ext cx="15544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 Pattern</a:t>
            </a:r>
            <a:endParaRPr lang="en-US" sz="950" dirty="0"/>
          </a:p>
        </p:txBody>
      </p:sp>
      <p:sp>
        <p:nvSpPr>
          <p:cNvPr id="8" name="Text 5"/>
          <p:cNvSpPr/>
          <p:nvPr/>
        </p:nvSpPr>
        <p:spPr>
          <a:xfrm>
            <a:off x="6492240" y="2432304"/>
            <a:ext cx="4846320" cy="502920"/>
          </a:xfrm>
          <a:prstGeom prst="rect">
            <a:avLst/>
          </a:prstGeom>
          <a:noFill/>
          <a:ln/>
        </p:spPr>
        <p:txBody>
          <a:bodyPr wrap="square" rtlCol="0" anchor="ctr"/>
          <a:lstStyle/>
          <a:p>
            <a:pPr indent="0" marL="0">
              <a:buNone/>
            </a:pPr>
            <a:r>
              <a:rPr lang="en-US" sz="1200" dirty="0">
                <a:solidFill>
                  <a:srgbClr val="1A2E2E"/>
                </a:solidFill>
                <a:latin typeface="Calibri" pitchFamily="34" charset="0"/>
                <a:ea typeface="Calibri" pitchFamily="34" charset="-122"/>
                <a:cs typeface="Calibri" pitchFamily="34" charset="-120"/>
              </a:rPr>
              <a:t>40% higher energy on 7+ hour sleep nights (18 days logged).</a:t>
            </a:r>
            <a:endParaRPr lang="en-US" sz="1200" dirty="0"/>
          </a:p>
        </p:txBody>
      </p:sp>
      <p:sp>
        <p:nvSpPr>
          <p:cNvPr id="9" name="Shape 6"/>
          <p:cNvSpPr/>
          <p:nvPr/>
        </p:nvSpPr>
        <p:spPr>
          <a:xfrm>
            <a:off x="6263640" y="3154680"/>
            <a:ext cx="5257800" cy="1051560"/>
          </a:xfrm>
          <a:prstGeom prst="roundRect">
            <a:avLst>
              <a:gd name="adj" fmla="val 7826"/>
            </a:avLst>
          </a:prstGeom>
          <a:solidFill>
            <a:srgbClr val="FFFFFF"/>
          </a:solidFill>
          <a:ln w="12700">
            <a:solidFill>
              <a:srgbClr val="DCEAE8"/>
            </a:solidFill>
            <a:prstDash val="solid"/>
          </a:ln>
        </p:spPr>
      </p:sp>
      <p:sp>
        <p:nvSpPr>
          <p:cNvPr id="10" name="Shape 7"/>
          <p:cNvSpPr/>
          <p:nvPr/>
        </p:nvSpPr>
        <p:spPr>
          <a:xfrm>
            <a:off x="6492240" y="3319272"/>
            <a:ext cx="1554480" cy="292608"/>
          </a:xfrm>
          <a:prstGeom prst="roundRect">
            <a:avLst>
              <a:gd name="adj" fmla="val 50000"/>
            </a:avLst>
          </a:prstGeom>
          <a:solidFill>
            <a:srgbClr val="00A896"/>
          </a:solidFill>
          <a:ln/>
        </p:spPr>
      </p:sp>
      <p:sp>
        <p:nvSpPr>
          <p:cNvPr id="11" name="Text 8"/>
          <p:cNvSpPr/>
          <p:nvPr/>
        </p:nvSpPr>
        <p:spPr>
          <a:xfrm>
            <a:off x="6492240" y="3319272"/>
            <a:ext cx="15544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Confirmed Pattern</a:t>
            </a:r>
            <a:endParaRPr lang="en-US" sz="950" dirty="0"/>
          </a:p>
        </p:txBody>
      </p:sp>
      <p:sp>
        <p:nvSpPr>
          <p:cNvPr id="12" name="Text 9"/>
          <p:cNvSpPr/>
          <p:nvPr/>
        </p:nvSpPr>
        <p:spPr>
          <a:xfrm>
            <a:off x="6492240" y="3666744"/>
            <a:ext cx="4846320" cy="502920"/>
          </a:xfrm>
          <a:prstGeom prst="rect">
            <a:avLst/>
          </a:prstGeom>
          <a:noFill/>
          <a:ln/>
        </p:spPr>
        <p:txBody>
          <a:bodyPr wrap="square" rtlCol="0" anchor="ctr"/>
          <a:lstStyle/>
          <a:p>
            <a:pPr indent="0" marL="0">
              <a:buNone/>
            </a:pPr>
            <a:r>
              <a:rPr lang="en-US" sz="1200" dirty="0">
                <a:solidFill>
                  <a:srgbClr val="1A2E2E"/>
                </a:solidFill>
                <a:latin typeface="Calibri" pitchFamily="34" charset="0"/>
                <a:ea typeface="Calibri" pitchFamily="34" charset="-122"/>
                <a:cs typeface="Calibri" pitchFamily="34" charset="-120"/>
              </a:rPr>
              <a:t>28% lower stress on workout days (22 days logged).</a:t>
            </a:r>
            <a:endParaRPr lang="en-US" sz="1200" dirty="0"/>
          </a:p>
        </p:txBody>
      </p:sp>
      <p:sp>
        <p:nvSpPr>
          <p:cNvPr id="13" name="Shape 10"/>
          <p:cNvSpPr/>
          <p:nvPr/>
        </p:nvSpPr>
        <p:spPr>
          <a:xfrm>
            <a:off x="6263640" y="4389120"/>
            <a:ext cx="5257800" cy="1051560"/>
          </a:xfrm>
          <a:prstGeom prst="roundRect">
            <a:avLst>
              <a:gd name="adj" fmla="val 7826"/>
            </a:avLst>
          </a:prstGeom>
          <a:solidFill>
            <a:srgbClr val="FFFFFF"/>
          </a:solidFill>
          <a:ln w="12700">
            <a:solidFill>
              <a:srgbClr val="DCEAE8"/>
            </a:solidFill>
            <a:prstDash val="solid"/>
          </a:ln>
        </p:spPr>
      </p:sp>
      <p:sp>
        <p:nvSpPr>
          <p:cNvPr id="14" name="Shape 11"/>
          <p:cNvSpPr/>
          <p:nvPr/>
        </p:nvSpPr>
        <p:spPr>
          <a:xfrm>
            <a:off x="6492240" y="4553712"/>
            <a:ext cx="1554480" cy="292608"/>
          </a:xfrm>
          <a:prstGeom prst="roundRect">
            <a:avLst>
              <a:gd name="adj" fmla="val 50000"/>
            </a:avLst>
          </a:prstGeom>
          <a:solidFill>
            <a:srgbClr val="E8A33D"/>
          </a:solidFill>
          <a:ln/>
        </p:spPr>
      </p:sp>
      <p:sp>
        <p:nvSpPr>
          <p:cNvPr id="15" name="Text 12"/>
          <p:cNvSpPr/>
          <p:nvPr/>
        </p:nvSpPr>
        <p:spPr>
          <a:xfrm>
            <a:off x="6492240" y="4553712"/>
            <a:ext cx="1554480" cy="29260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Early Pattern</a:t>
            </a:r>
            <a:endParaRPr lang="en-US" sz="950" dirty="0"/>
          </a:p>
        </p:txBody>
      </p:sp>
      <p:sp>
        <p:nvSpPr>
          <p:cNvPr id="16" name="Text 13"/>
          <p:cNvSpPr/>
          <p:nvPr/>
        </p:nvSpPr>
        <p:spPr>
          <a:xfrm>
            <a:off x="6492240" y="4901184"/>
            <a:ext cx="4846320" cy="502920"/>
          </a:xfrm>
          <a:prstGeom prst="rect">
            <a:avLst/>
          </a:prstGeom>
          <a:noFill/>
          <a:ln/>
        </p:spPr>
        <p:txBody>
          <a:bodyPr wrap="square" rtlCol="0" anchor="ctr"/>
          <a:lstStyle/>
          <a:p>
            <a:pPr indent="0" marL="0">
              <a:buNone/>
            </a:pPr>
            <a:r>
              <a:rPr lang="en-US" sz="1200" dirty="0">
                <a:solidFill>
                  <a:srgbClr val="1A2E2E"/>
                </a:solidFill>
                <a:latin typeface="Calibri" pitchFamily="34" charset="0"/>
                <a:ea typeface="Calibri" pitchFamily="34" charset="-122"/>
                <a:cs typeface="Calibri" pitchFamily="34" charset="-120"/>
              </a:rPr>
              <a:t>Lower mood linked to 6+ hrs screen time (7 days logged so far).</a:t>
            </a:r>
            <a:endParaRPr lang="en-US" sz="1200" dirty="0"/>
          </a:p>
        </p:txBody>
      </p:sp>
      <p:sp>
        <p:nvSpPr>
          <p:cNvPr id="17" name="Text 14"/>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18" name="Text 15"/>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4572000" cy="365760"/>
          </a:xfrm>
          <a:prstGeom prst="rect">
            <a:avLst/>
          </a:prstGeom>
          <a:noFill/>
          <a:ln/>
        </p:spPr>
        <p:txBody>
          <a:bodyPr wrap="square"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FUTURE SCOPE</a:t>
            </a:r>
            <a:endParaRPr lang="en-US" sz="1300" dirty="0"/>
          </a:p>
        </p:txBody>
      </p:sp>
      <p:sp>
        <p:nvSpPr>
          <p:cNvPr id="3" name="Text 1"/>
          <p:cNvSpPr/>
          <p:nvPr/>
        </p:nvSpPr>
        <p:spPr>
          <a:xfrm>
            <a:off x="640080" y="822960"/>
            <a:ext cx="9144000" cy="822960"/>
          </a:xfrm>
          <a:prstGeom prst="rect">
            <a:avLst/>
          </a:prstGeom>
          <a:noFill/>
          <a:ln/>
        </p:spPr>
        <p:txBody>
          <a:bodyPr wrap="square" rtlCol="0" anchor="ctr"/>
          <a:lstStyle/>
          <a:p>
            <a:pPr indent="0" marL="0">
              <a:buNone/>
            </a:pPr>
            <a:r>
              <a:rPr lang="en-US" sz="3200" b="1" dirty="0">
                <a:solidFill>
                  <a:srgbClr val="1A2E2E"/>
                </a:solidFill>
                <a:latin typeface="Cambria" pitchFamily="34" charset="0"/>
                <a:ea typeface="Cambria" pitchFamily="34" charset="-122"/>
                <a:cs typeface="Cambria" pitchFamily="34" charset="-120"/>
              </a:rPr>
              <a:t>What v1.0 leaves out — on purpose.</a:t>
            </a:r>
            <a:endParaRPr lang="en-US" sz="3200" dirty="0"/>
          </a:p>
        </p:txBody>
      </p:sp>
      <p:sp>
        <p:nvSpPr>
          <p:cNvPr id="4" name="Shape 2"/>
          <p:cNvSpPr/>
          <p:nvPr/>
        </p:nvSpPr>
        <p:spPr>
          <a:xfrm>
            <a:off x="640080" y="1965960"/>
            <a:ext cx="5212080" cy="3840480"/>
          </a:xfrm>
          <a:prstGeom prst="roundRect">
            <a:avLst>
              <a:gd name="adj" fmla="val 2857"/>
            </a:avLst>
          </a:prstGeom>
          <a:solidFill>
            <a:srgbClr val="F7FBFA"/>
          </a:solidFill>
          <a:ln/>
        </p:spPr>
      </p:sp>
      <p:sp>
        <p:nvSpPr>
          <p:cNvPr id="5" name="Text 3"/>
          <p:cNvSpPr/>
          <p:nvPr/>
        </p:nvSpPr>
        <p:spPr>
          <a:xfrm>
            <a:off x="960120" y="2240280"/>
            <a:ext cx="4572000" cy="365760"/>
          </a:xfrm>
          <a:prstGeom prst="rect">
            <a:avLst/>
          </a:prstGeom>
          <a:noFill/>
          <a:ln/>
        </p:spPr>
        <p:txBody>
          <a:bodyPr wrap="square"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v1.0 — Shipped now</a:t>
            </a:r>
            <a:endParaRPr lang="en-US" sz="1500" dirty="0"/>
          </a:p>
        </p:txBody>
      </p:sp>
      <p:sp>
        <p:nvSpPr>
          <p:cNvPr id="6" name="Text 4"/>
          <p:cNvSpPr/>
          <p:nvPr/>
        </p:nvSpPr>
        <p:spPr>
          <a:xfrm>
            <a:off x="960120" y="2743200"/>
            <a:ext cx="4572000" cy="2834640"/>
          </a:xfrm>
          <a:prstGeom prst="rect">
            <a:avLst/>
          </a:prstGeom>
          <a:noFill/>
          <a:ln/>
        </p:spPr>
        <p:txBody>
          <a:bodyPr wrap="square" rtlCol="0" anchor="t"/>
          <a:lstStyle/>
          <a:p>
            <a:pPr marL="342900" indent="-342900">
              <a:spcAft>
                <a:spcPts val="1200"/>
              </a:spcAft>
              <a:buSzPct val="100000"/>
              <a:buChar char="•"/>
            </a:pPr>
            <a:r>
              <a:rPr lang="en-US" sz="1450" dirty="0">
                <a:solidFill>
                  <a:srgbClr val="1A2E2E"/>
                </a:solidFill>
                <a:latin typeface="Calibri" pitchFamily="34" charset="0"/>
                <a:ea typeface="Calibri" pitchFamily="34" charset="-122"/>
                <a:cs typeface="Calibri" pitchFamily="34" charset="-120"/>
              </a:rPr>
              <a:t>4 habits, 4 feelings</a:t>
            </a:r>
            <a:endParaRPr lang="en-US" sz="1450" dirty="0"/>
          </a:p>
          <a:p>
            <a:pPr marL="342900" indent="-342900">
              <a:spcAft>
                <a:spcPts val="1200"/>
              </a:spcAft>
              <a:buSzPct val="100000"/>
              <a:buChar char="•"/>
            </a:pPr>
            <a:r>
              <a:rPr lang="en-US" sz="1450" dirty="0">
                <a:solidFill>
                  <a:srgbClr val="1A2E2E"/>
                </a:solidFill>
                <a:latin typeface="Calibri" pitchFamily="34" charset="0"/>
                <a:ea typeface="Calibri" pitchFamily="34" charset="-122"/>
                <a:cs typeface="Calibri" pitchFamily="34" charset="-120"/>
              </a:rPr>
              <a:t>Username/password login</a:t>
            </a:r>
            <a:endParaRPr lang="en-US" sz="1450" dirty="0"/>
          </a:p>
          <a:p>
            <a:pPr marL="342900" indent="-342900">
              <a:spcAft>
                <a:spcPts val="1200"/>
              </a:spcAft>
              <a:buSzPct val="100000"/>
              <a:buChar char="•"/>
            </a:pPr>
            <a:r>
              <a:rPr lang="en-US" sz="1450" dirty="0">
                <a:solidFill>
                  <a:srgbClr val="1A2E2E"/>
                </a:solidFill>
                <a:latin typeface="Calibri" pitchFamily="34" charset="0"/>
                <a:ea typeface="Calibri" pitchFamily="34" charset="-122"/>
                <a:cs typeface="Calibri" pitchFamily="34" charset="-120"/>
              </a:rPr>
              <a:t>Delete-only entries</a:t>
            </a:r>
            <a:endParaRPr lang="en-US" sz="1450" dirty="0"/>
          </a:p>
          <a:p>
            <a:pPr marL="342900" indent="-342900">
              <a:spcAft>
                <a:spcPts val="1200"/>
              </a:spcAft>
              <a:buSzPct val="100000"/>
              <a:buChar char="•"/>
            </a:pPr>
            <a:r>
              <a:rPr lang="en-US" sz="1450" dirty="0">
                <a:solidFill>
                  <a:srgbClr val="1A2E2E"/>
                </a:solidFill>
                <a:latin typeface="Calibri" pitchFamily="34" charset="0"/>
                <a:ea typeface="Calibri" pitchFamily="34" charset="-122"/>
                <a:cs typeface="Calibri" pitchFamily="34" charset="-120"/>
              </a:rPr>
              <a:t>Dashboard load-time insights</a:t>
            </a:r>
            <a:endParaRPr lang="en-US" sz="1450" dirty="0"/>
          </a:p>
        </p:txBody>
      </p:sp>
      <p:sp>
        <p:nvSpPr>
          <p:cNvPr id="7" name="Shape 5"/>
          <p:cNvSpPr/>
          <p:nvPr/>
        </p:nvSpPr>
        <p:spPr>
          <a:xfrm>
            <a:off x="6263640" y="1965960"/>
            <a:ext cx="5257800" cy="3840480"/>
          </a:xfrm>
          <a:prstGeom prst="roundRect">
            <a:avLst>
              <a:gd name="adj" fmla="val 2857"/>
            </a:avLst>
          </a:prstGeom>
          <a:solidFill>
            <a:srgbClr val="0B3D3F"/>
          </a:solidFill>
          <a:ln/>
        </p:spPr>
      </p:sp>
      <p:sp>
        <p:nvSpPr>
          <p:cNvPr id="8" name="Text 6"/>
          <p:cNvSpPr/>
          <p:nvPr/>
        </p:nvSpPr>
        <p:spPr>
          <a:xfrm>
            <a:off x="6583680" y="2240280"/>
            <a:ext cx="4572000" cy="36576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v2 — Coming later</a:t>
            </a:r>
            <a:endParaRPr lang="en-US" sz="1500" dirty="0"/>
          </a:p>
        </p:txBody>
      </p:sp>
      <p:sp>
        <p:nvSpPr>
          <p:cNvPr id="9" name="Text 7"/>
          <p:cNvSpPr/>
          <p:nvPr/>
        </p:nvSpPr>
        <p:spPr>
          <a:xfrm>
            <a:off x="6583680" y="2743200"/>
            <a:ext cx="4663440" cy="2834640"/>
          </a:xfrm>
          <a:prstGeom prst="rect">
            <a:avLst/>
          </a:prstGeom>
          <a:noFill/>
          <a:ln/>
        </p:spPr>
        <p:txBody>
          <a:bodyPr wrap="square" rtlCol="0" anchor="t"/>
          <a:lstStyle/>
          <a:p>
            <a:pPr marL="342900" indent="-342900">
              <a:spcAft>
                <a:spcPts val="1200"/>
              </a:spcAft>
              <a:buSzPct val="100000"/>
              <a:buChar char="•"/>
            </a:pPr>
            <a:r>
              <a:rPr lang="en-US" sz="1350" dirty="0">
                <a:solidFill>
                  <a:srgbClr val="E3F4F2"/>
                </a:solidFill>
                <a:latin typeface="Calibri" pitchFamily="34" charset="0"/>
                <a:ea typeface="Calibri" pitchFamily="34" charset="-122"/>
                <a:cs typeface="Calibri" pitchFamily="34" charset="-120"/>
              </a:rPr>
              <a:t>Steps, nutrition, meditation, anxiety, sleepiness tracking</a:t>
            </a:r>
            <a:endParaRPr lang="en-US" sz="1350" dirty="0"/>
          </a:p>
          <a:p>
            <a:pPr marL="342900" indent="-342900">
              <a:spcAft>
                <a:spcPts val="1200"/>
              </a:spcAft>
              <a:buSzPct val="100000"/>
              <a:buChar char="•"/>
            </a:pPr>
            <a:r>
              <a:rPr lang="en-US" sz="1350" dirty="0">
                <a:solidFill>
                  <a:srgbClr val="E3F4F2"/>
                </a:solidFill>
                <a:latin typeface="Calibri" pitchFamily="34" charset="0"/>
                <a:ea typeface="Calibri" pitchFamily="34" charset="-122"/>
                <a:cs typeface="Calibri" pitchFamily="34" charset="-120"/>
              </a:rPr>
              <a:t>Edit past entries</a:t>
            </a:r>
            <a:endParaRPr lang="en-US" sz="1350" dirty="0"/>
          </a:p>
          <a:p>
            <a:pPr marL="342900" indent="-342900">
              <a:spcAft>
                <a:spcPts val="1200"/>
              </a:spcAft>
              <a:buSzPct val="100000"/>
              <a:buChar char="•"/>
            </a:pPr>
            <a:r>
              <a:rPr lang="en-US" sz="1350" dirty="0">
                <a:solidFill>
                  <a:srgbClr val="E3F4F2"/>
                </a:solidFill>
                <a:latin typeface="Calibri" pitchFamily="34" charset="0"/>
                <a:ea typeface="Calibri" pitchFamily="34" charset="-122"/>
                <a:cs typeface="Calibri" pitchFamily="34" charset="-120"/>
              </a:rPr>
              <a:t>Email verification &amp; password reset</a:t>
            </a:r>
            <a:endParaRPr lang="en-US" sz="1350" dirty="0"/>
          </a:p>
          <a:p>
            <a:pPr marL="342900" indent="-342900">
              <a:spcAft>
                <a:spcPts val="1200"/>
              </a:spcAft>
              <a:buSzPct val="100000"/>
              <a:buChar char="•"/>
            </a:pPr>
            <a:r>
              <a:rPr lang="en-US" sz="1350" dirty="0">
                <a:solidFill>
                  <a:srgbClr val="E3F4F2"/>
                </a:solidFill>
                <a:latin typeface="Calibri" pitchFamily="34" charset="0"/>
                <a:ea typeface="Calibri" pitchFamily="34" charset="-122"/>
                <a:cs typeface="Calibri" pitchFamily="34" charset="-120"/>
              </a:rPr>
              <a:t>Wearable integrations &amp; social sharing</a:t>
            </a:r>
            <a:endParaRPr lang="en-US" sz="1350" dirty="0"/>
          </a:p>
        </p:txBody>
      </p:sp>
      <p:sp>
        <p:nvSpPr>
          <p:cNvPr id="10" name="Text 8"/>
          <p:cNvSpPr/>
          <p:nvPr/>
        </p:nvSpPr>
        <p:spPr>
          <a:xfrm>
            <a:off x="457200" y="6446520"/>
            <a:ext cx="2743200" cy="274320"/>
          </a:xfrm>
          <a:prstGeom prst="rect">
            <a:avLst/>
          </a:prstGeom>
          <a:noFill/>
          <a:ln/>
        </p:spPr>
        <p:txBody>
          <a:bodyPr wrap="square" rtlCol="0" anchor="ctr"/>
          <a:lstStyle/>
          <a:p>
            <a:pPr indent="0" marL="0">
              <a:buNone/>
            </a:pPr>
            <a:r>
              <a:rPr lang="en-US" sz="1000" dirty="0">
                <a:solidFill>
                  <a:srgbClr val="5A6E6E"/>
                </a:solidFill>
                <a:latin typeface="Calibri" pitchFamily="34" charset="0"/>
                <a:ea typeface="Calibri" pitchFamily="34" charset="-122"/>
                <a:cs typeface="Calibri" pitchFamily="34" charset="-120"/>
              </a:rPr>
              <a:t>WhyIFeel</a:t>
            </a:r>
            <a:endParaRPr lang="en-US" sz="1000" dirty="0"/>
          </a:p>
        </p:txBody>
      </p:sp>
      <p:sp>
        <p:nvSpPr>
          <p:cNvPr id="11" name="Text 9"/>
          <p:cNvSpPr/>
          <p:nvPr/>
        </p:nvSpPr>
        <p:spPr>
          <a:xfrm>
            <a:off x="11274552" y="6446520"/>
            <a:ext cx="457200" cy="274320"/>
          </a:xfrm>
          <a:prstGeom prst="rect">
            <a:avLst/>
          </a:prstGeom>
          <a:noFill/>
          <a:ln/>
        </p:spPr>
        <p:txBody>
          <a:bodyPr wrap="square" rtlCol="0" anchor="ctr"/>
          <a:lstStyle/>
          <a:p>
            <a:pPr algn="r" indent="0" marL="0">
              <a:buNone/>
            </a:pPr>
            <a:r>
              <a:rPr lang="en-US" sz="1000" dirty="0">
                <a:solidFill>
                  <a:srgbClr val="5A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D3F"/>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028090">
              <a:alpha val="40000"/>
            </a:srgbClr>
          </a:solidFill>
          <a:ln/>
        </p:spPr>
      </p:sp>
      <p:sp>
        <p:nvSpPr>
          <p:cNvPr id="3" name="Text 1"/>
          <p:cNvSpPr/>
          <p:nvPr/>
        </p:nvSpPr>
        <p:spPr>
          <a:xfrm>
            <a:off x="731520" y="640080"/>
            <a:ext cx="45720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VISION</a:t>
            </a:r>
            <a:endParaRPr lang="en-US" sz="1300" dirty="0"/>
          </a:p>
        </p:txBody>
      </p:sp>
      <p:sp>
        <p:nvSpPr>
          <p:cNvPr id="4" name="Text 2"/>
          <p:cNvSpPr/>
          <p:nvPr/>
        </p:nvSpPr>
        <p:spPr>
          <a:xfrm>
            <a:off x="731520" y="1097280"/>
            <a:ext cx="10058400" cy="10058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Progress you can feel — not just measure.</a:t>
            </a:r>
            <a:endParaRPr lang="en-US" sz="3400" dirty="0"/>
          </a:p>
        </p:txBody>
      </p:sp>
      <p:sp>
        <p:nvSpPr>
          <p:cNvPr id="5" name="Text 3"/>
          <p:cNvSpPr/>
          <p:nvPr/>
        </p:nvSpPr>
        <p:spPr>
          <a:xfrm>
            <a:off x="777240" y="2286000"/>
            <a:ext cx="8686800" cy="1828800"/>
          </a:xfrm>
          <a:prstGeom prst="rect">
            <a:avLst/>
          </a:prstGeom>
          <a:noFill/>
          <a:ln/>
        </p:spPr>
        <p:txBody>
          <a:bodyPr wrap="square" rtlCol="0" anchor="ctr"/>
          <a:lstStyle/>
          <a:p>
            <a:pPr indent="0" marL="0">
              <a:lnSpc>
                <a:spcPct val="130000"/>
              </a:lnSpc>
              <a:buNone/>
            </a:pPr>
            <a:r>
              <a:rPr lang="en-US" sz="1600" dirty="0">
                <a:solidFill>
                  <a:srgbClr val="CFE9E7"/>
                </a:solidFill>
                <a:latin typeface="Calibri" pitchFamily="34" charset="0"/>
                <a:ea typeface="Calibri" pitchFamily="34" charset="-122"/>
                <a:cs typeface="Calibri" pitchFamily="34" charset="-120"/>
              </a:rPr>
              <a:t>WhyIFeel starts as a habit-feeling correlation tool — but the underlying idea is bigger: helping people trust their own data enough to keep going, long after the scale or step count stalls. As it grows, WhyIFeel can become the layer that sits on top of any habit or health app, turning raw logs into the one thing that actually keeps people motivated — proof that what they're doing is working.</a:t>
            </a:r>
            <a:endParaRPr lang="en-US" sz="1600" dirty="0"/>
          </a:p>
        </p:txBody>
      </p:sp>
      <p:sp>
        <p:nvSpPr>
          <p:cNvPr id="6" name="Text 4"/>
          <p:cNvSpPr/>
          <p:nvPr/>
        </p:nvSpPr>
        <p:spPr>
          <a:xfrm>
            <a:off x="777240" y="5394960"/>
            <a:ext cx="54864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7" name="Text 5"/>
          <p:cNvSpPr/>
          <p:nvPr/>
        </p:nvSpPr>
        <p:spPr>
          <a:xfrm>
            <a:off x="777240" y="6309360"/>
            <a:ext cx="7315200" cy="365760"/>
          </a:xfrm>
          <a:prstGeom prst="rect">
            <a:avLst/>
          </a:prstGeom>
          <a:noFill/>
          <a:ln/>
        </p:spPr>
        <p:txBody>
          <a:bodyPr wrap="square" rtlCol="0" anchor="ctr"/>
          <a:lstStyle/>
          <a:p>
            <a:pPr indent="0" marL="0">
              <a:buNone/>
            </a:pPr>
            <a:r>
              <a:rPr lang="en-US" sz="1200" dirty="0">
                <a:solidFill>
                  <a:srgbClr val="7FB8B4"/>
                </a:solidFill>
                <a:latin typeface="Calibri" pitchFamily="34" charset="0"/>
                <a:ea typeface="Calibri" pitchFamily="34" charset="-122"/>
                <a:cs typeface="Calibri" pitchFamily="34" charset="-120"/>
              </a:rPr>
              <a:t>WhyIFeel  •  Built for the AB Talks 60-Day Claude AI Challenge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2026-07-21T11:16:28Z</dcterms:created>
  <dcterms:modified xsi:type="dcterms:W3CDTF">2026-07-21T11:16:28Z</dcterms:modified>
</cp:coreProperties>
</file>